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9" r:id="rId4"/>
    <p:sldId id="258"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DAFE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534"/>
    <p:restoredTop sz="60242"/>
  </p:normalViewPr>
  <p:slideViewPr>
    <p:cSldViewPr snapToGrid="0">
      <p:cViewPr>
        <p:scale>
          <a:sx n="113" d="100"/>
          <a:sy n="113" d="100"/>
        </p:scale>
        <p:origin x="712" y="2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D6B3D3D-A6B6-5847-AA66-127318BB1418}" type="datetimeFigureOut">
              <a:rPr lang="en-US" smtClean="0"/>
              <a:t>4/21/26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D90F3FA-E17E-254F-A6BD-62289DDD833E}" type="slidenum">
              <a:rPr lang="en-US" smtClean="0"/>
              <a:t>‹#›</a:t>
            </a:fld>
            <a:endParaRPr lang="en-US"/>
          </a:p>
        </p:txBody>
      </p:sp>
    </p:spTree>
    <p:extLst>
      <p:ext uri="{BB962C8B-B14F-4D97-AF65-F5344CB8AC3E}">
        <p14:creationId xmlns:p14="http://schemas.microsoft.com/office/powerpoint/2010/main" val="41802695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surplus production model is a simple population dynamics model used for fisheries stock assessment. The objective of a surplus production model is to estimate the Maximum Sustainable Yield (MSY) using limited data, to identify the optimum harvest effort that avoids depleting the stock. The equation for the surplus production model is:</a:t>
            </a:r>
          </a:p>
          <a:p>
            <a:endParaRPr lang="en-US" dirty="0"/>
          </a:p>
          <a:p>
            <a:r>
              <a:rPr lang="en-US" dirty="0"/>
              <a:t>The catchability coefficient ($q$) relates fishing effort to fishing mortality and is assumed to be constant in this equation. </a:t>
            </a:r>
          </a:p>
          <a:p>
            <a:endParaRPr lang="en-US" dirty="0"/>
          </a:p>
          <a:p>
            <a:r>
              <a:rPr lang="en-US" dirty="0"/>
              <a:t>However, the true value of the catchability coefficient changes with increased fishing efficiency, fish density (hyperstability or hyperdepletion), environmental changes, or technological improvements. This has the potential to impact the determined MSY of a stock, having implications for policy development and fisher economic gain. As such, my project aims to evaluate whether assuming a constant catchability coefficient ($q$) in a Bayesian stock assessment leads to biased estimates when fishers are adaptively targeting aggregations.</a:t>
            </a:r>
          </a:p>
        </p:txBody>
      </p:sp>
      <p:sp>
        <p:nvSpPr>
          <p:cNvPr id="4" name="Slide Number Placeholder 3"/>
          <p:cNvSpPr>
            <a:spLocks noGrp="1"/>
          </p:cNvSpPr>
          <p:nvPr>
            <p:ph type="sldNum" sz="quarter" idx="5"/>
          </p:nvPr>
        </p:nvSpPr>
        <p:spPr/>
        <p:txBody>
          <a:bodyPr/>
          <a:lstStyle/>
          <a:p>
            <a:fld id="{DD90F3FA-E17E-254F-A6BD-62289DDD833E}" type="slidenum">
              <a:rPr lang="en-US" smtClean="0"/>
              <a:t>2</a:t>
            </a:fld>
            <a:endParaRPr lang="en-US"/>
          </a:p>
        </p:txBody>
      </p:sp>
    </p:spTree>
    <p:extLst>
      <p:ext uri="{BB962C8B-B14F-4D97-AF65-F5344CB8AC3E}">
        <p14:creationId xmlns:p14="http://schemas.microsoft.com/office/powerpoint/2010/main" val="5038387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D90F3FA-E17E-254F-A6BD-62289DDD833E}" type="slidenum">
              <a:rPr lang="en-US" smtClean="0"/>
              <a:t>3</a:t>
            </a:fld>
            <a:endParaRPr lang="en-US"/>
          </a:p>
        </p:txBody>
      </p:sp>
    </p:spTree>
    <p:extLst>
      <p:ext uri="{BB962C8B-B14F-4D97-AF65-F5344CB8AC3E}">
        <p14:creationId xmlns:p14="http://schemas.microsoft.com/office/powerpoint/2010/main" val="39708134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POSEIDON model is an interactive agent-based modeling platform that serves as an interactive tool that encodes certain parameters within a dynamic spatial-visual platform. Users of the interface apply values to these parameters to evaluate the effect of various policy interventions on ecological and fisheries outcomes. Using this model, I will be able to simulate fisheries data where fishers are highly exploratory versus where fishers use explore-exploit-imitate to aggregate effort on high-density patches through patterns of exploitation and imitation. </a:t>
            </a:r>
          </a:p>
          <a:p>
            <a:r>
              <a:rPr lang="en-US" dirty="0"/>
              <a:t>he POSEIDON model was used to simulate fishing </a:t>
            </a:r>
            <a:r>
              <a:rPr lang="en-US" dirty="0" err="1"/>
              <a:t>scenerios</a:t>
            </a:r>
            <a:r>
              <a:rPr lang="en-US" dirty="0"/>
              <a:t> with two different types of fisher behavior. These fisher simulation runs differ only in fisher targeting behavior, all else being held constant. </a:t>
            </a:r>
          </a:p>
          <a:p>
            <a:endParaRPr lang="en-US" dirty="0"/>
          </a:p>
          <a:p>
            <a:r>
              <a:rPr lang="en-US" dirty="0"/>
              <a:t>In </a:t>
            </a:r>
            <a:r>
              <a:rPr lang="en-US" dirty="0" err="1"/>
              <a:t>Scenerio</a:t>
            </a:r>
            <a:r>
              <a:rPr lang="en-US" dirty="0"/>
              <a:t> A - fishers move randomly, catch is roughly proportional to abundance. This means that CPUE is a good index of biomass and constant $q$ is approximately valid. </a:t>
            </a:r>
          </a:p>
          <a:p>
            <a:endParaRPr lang="en-US" dirty="0"/>
          </a:p>
          <a:p>
            <a:r>
              <a:rPr lang="en-US" dirty="0"/>
              <a:t>In </a:t>
            </a:r>
            <a:r>
              <a:rPr lang="en-US" dirty="0" err="1"/>
              <a:t>Scenerio</a:t>
            </a:r>
            <a:r>
              <a:rPr lang="en-US" dirty="0"/>
              <a:t> B - fishers use POSEIDON's adaptive explore-exploit-imitate algorithm to seek out high-density patches. Agents learn to efficiently target remaining fish </a:t>
            </a:r>
            <a:r>
              <a:rPr lang="en-US" dirty="0" err="1"/>
              <a:t>aggreagations</a:t>
            </a:r>
            <a:r>
              <a:rPr lang="en-US" dirty="0"/>
              <a:t>, depleting nearby areas first and expanding outward. CPUE stays high as biomass drops (hyperstability), meaning the constant $q$ assumption is violated. </a:t>
            </a:r>
          </a:p>
          <a:p>
            <a:endParaRPr lang="en-US" dirty="0"/>
          </a:p>
          <a:p>
            <a:r>
              <a:rPr lang="en-US" dirty="0"/>
              <a:t>A simulation of 30 years was run for each scenario with the given parameters. </a:t>
            </a:r>
          </a:p>
          <a:p>
            <a:endParaRPr lang="en-US" dirty="0"/>
          </a:p>
          <a:p>
            <a:r>
              <a:rPr lang="en-US" dirty="0"/>
              <a:t>Species biomass (kg), total catch (kg), average distance from port (km), average last trip hourly income ($), hours out, and effort were collected from the simulation. CPUE was calculated from total catch (kg) and effort. </a:t>
            </a:r>
          </a:p>
          <a:p>
            <a:endParaRPr lang="en-US" dirty="0"/>
          </a:p>
          <a:p>
            <a:r>
              <a:rPr lang="en-US" dirty="0"/>
              <a:t>Two runs with random seeds were conducted for each scenario. The first 5 years were removed to drop potential trends arising from initialization and to remove the learning artifact in the Scenario B. </a:t>
            </a:r>
          </a:p>
          <a:p>
            <a:endParaRPr lang="en-US" dirty="0"/>
          </a:p>
          <a:p>
            <a:endParaRPr lang="en-US" dirty="0"/>
          </a:p>
        </p:txBody>
      </p:sp>
      <p:sp>
        <p:nvSpPr>
          <p:cNvPr id="4" name="Slide Number Placeholder 3"/>
          <p:cNvSpPr>
            <a:spLocks noGrp="1"/>
          </p:cNvSpPr>
          <p:nvPr>
            <p:ph type="sldNum" sz="quarter" idx="5"/>
          </p:nvPr>
        </p:nvSpPr>
        <p:spPr/>
        <p:txBody>
          <a:bodyPr/>
          <a:lstStyle/>
          <a:p>
            <a:fld id="{DD90F3FA-E17E-254F-A6BD-62289DDD833E}" type="slidenum">
              <a:rPr lang="en-US" smtClean="0"/>
              <a:t>4</a:t>
            </a:fld>
            <a:endParaRPr lang="en-US"/>
          </a:p>
        </p:txBody>
      </p:sp>
    </p:spTree>
    <p:extLst>
      <p:ext uri="{BB962C8B-B14F-4D97-AF65-F5344CB8AC3E}">
        <p14:creationId xmlns:p14="http://schemas.microsoft.com/office/powerpoint/2010/main" val="8452369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Scenarios at year 0 have the same initial biomass. In Scenario A, biomass rapidly decreases initially and steadies to a point of limited decrease in later years, but remains above zero. In Scenario B, the initial biomass spike is caused by the </a:t>
            </a:r>
            <a:r>
              <a:rPr lang="en-US" dirty="0" err="1"/>
              <a:t>inefficency</a:t>
            </a:r>
            <a:r>
              <a:rPr lang="en-US" dirty="0"/>
              <a:t> associated with learning. However, Scenario B shows a similar pattern of rapid decline followed by stabilization. </a:t>
            </a:r>
          </a:p>
          <a:p>
            <a:endParaRPr lang="en-US" dirty="0"/>
          </a:p>
          <a:p>
            <a:r>
              <a:rPr lang="en-US" dirty="0"/>
              <a:t>Scenario A represents consistency with the assumption for a standard population surplus model. The relationship between CPUE and biomass creates a largely flat trend where CPUE decline is proportional with biomass decline over time. The trend indicates that a constant q assumption is largely valid. </a:t>
            </a:r>
          </a:p>
          <a:p>
            <a:endParaRPr lang="en-US" dirty="0"/>
          </a:p>
          <a:p>
            <a:r>
              <a:rPr lang="en-US" dirty="0"/>
              <a:t>In contrast,  Scenario B shows hyperstability. The relationship between CPUE and biomass is initially low due to learning restrictions, then increases despite decreasing biomass as a result of advantageous exploitation and imitation behavior. Spatial targeting results in a more volatile pattern as established previously. The trend indicates that a constant q assumption is not valid. </a:t>
            </a:r>
          </a:p>
        </p:txBody>
      </p:sp>
      <p:sp>
        <p:nvSpPr>
          <p:cNvPr id="4" name="Slide Number Placeholder 3"/>
          <p:cNvSpPr>
            <a:spLocks noGrp="1"/>
          </p:cNvSpPr>
          <p:nvPr>
            <p:ph type="sldNum" sz="quarter" idx="5"/>
          </p:nvPr>
        </p:nvSpPr>
        <p:spPr/>
        <p:txBody>
          <a:bodyPr/>
          <a:lstStyle/>
          <a:p>
            <a:fld id="{DD90F3FA-E17E-254F-A6BD-62289DDD833E}" type="slidenum">
              <a:rPr lang="en-US" smtClean="0"/>
              <a:t>5</a:t>
            </a:fld>
            <a:endParaRPr lang="en-US"/>
          </a:p>
        </p:txBody>
      </p:sp>
    </p:spTree>
    <p:extLst>
      <p:ext uri="{BB962C8B-B14F-4D97-AF65-F5344CB8AC3E}">
        <p14:creationId xmlns:p14="http://schemas.microsoft.com/office/powerpoint/2010/main" val="27159872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Uninformative priors were set using weak information about the system dynamics. These models encode priors that are biologically reasonable for the system but have wide standard deviation to allow for a large amount of variation from the set mean. </a:t>
            </a:r>
          </a:p>
          <a:p>
            <a:endParaRPr lang="en-US" dirty="0"/>
          </a:p>
          <a:p>
            <a:r>
              <a:rPr lang="en-US" dirty="0"/>
              <a:t>A prior of 0.4 with a standard </a:t>
            </a:r>
            <a:r>
              <a:rPr lang="en-US" dirty="0" err="1"/>
              <a:t>deviaton</a:t>
            </a:r>
            <a:r>
              <a:rPr lang="en-US" dirty="0"/>
              <a:t> of 1 was used for r. 0.4 is considered a reasonable estimation for the growth rate of a highly productive species, with true values falling between 0 and 1. </a:t>
            </a:r>
          </a:p>
          <a:p>
            <a:r>
              <a:rPr lang="en-US" dirty="0"/>
              <a:t>A prior of 4600000 was used for K as an estimation based on 8x the maximum catch, which tends to provide a reasonable estimate. A standard deviation of 2 allows for variance from this set mean. </a:t>
            </a:r>
          </a:p>
          <a:p>
            <a:endParaRPr lang="en-US" dirty="0"/>
          </a:p>
          <a:p>
            <a:r>
              <a:rPr lang="en-US" dirty="0"/>
              <a:t>Uninformative priors do not produce highly accurate posterior coefficient estimates in either </a:t>
            </a:r>
            <a:r>
              <a:rPr lang="en-US" dirty="0" err="1"/>
              <a:t>Scen</a:t>
            </a:r>
            <a:r>
              <a:rPr lang="en-US" dirty="0"/>
              <a:t> A or </a:t>
            </a:r>
            <a:r>
              <a:rPr lang="en-US" dirty="0" err="1"/>
              <a:t>Scen</a:t>
            </a:r>
            <a:r>
              <a:rPr lang="en-US" dirty="0"/>
              <a:t> B. In </a:t>
            </a:r>
            <a:r>
              <a:rPr lang="en-US" dirty="0" err="1"/>
              <a:t>Scen</a:t>
            </a:r>
            <a:r>
              <a:rPr lang="en-US" dirty="0"/>
              <a:t> B, only the true mean MSY is contained in the range of the credible interval. However, the CI is very broad, as the priors are too broad to constrain uncertainty. Overarchingly, the posterior estimates are more accurate in </a:t>
            </a:r>
            <a:r>
              <a:rPr lang="en-US" dirty="0" err="1"/>
              <a:t>Scen</a:t>
            </a:r>
            <a:r>
              <a:rPr lang="en-US" dirty="0"/>
              <a:t> A than in </a:t>
            </a:r>
            <a:r>
              <a:rPr lang="en-US" dirty="0" err="1"/>
              <a:t>Scen</a:t>
            </a:r>
            <a:r>
              <a:rPr lang="en-US" dirty="0"/>
              <a:t> B, however, given the means, both models risk overharvest with estimated MSY values that are greater than true MSY. </a:t>
            </a:r>
          </a:p>
        </p:txBody>
      </p:sp>
      <p:sp>
        <p:nvSpPr>
          <p:cNvPr id="4" name="Slide Number Placeholder 3"/>
          <p:cNvSpPr>
            <a:spLocks noGrp="1"/>
          </p:cNvSpPr>
          <p:nvPr>
            <p:ph type="sldNum" sz="quarter" idx="5"/>
          </p:nvPr>
        </p:nvSpPr>
        <p:spPr/>
        <p:txBody>
          <a:bodyPr/>
          <a:lstStyle/>
          <a:p>
            <a:fld id="{DD90F3FA-E17E-254F-A6BD-62289DDD833E}" type="slidenum">
              <a:rPr lang="en-US" smtClean="0"/>
              <a:t>6</a:t>
            </a:fld>
            <a:endParaRPr lang="en-US"/>
          </a:p>
        </p:txBody>
      </p:sp>
    </p:spTree>
    <p:extLst>
      <p:ext uri="{BB962C8B-B14F-4D97-AF65-F5344CB8AC3E}">
        <p14:creationId xmlns:p14="http://schemas.microsoft.com/office/powerpoint/2010/main" val="29414374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scenario imitates a fishery in which there is greater biological certainty regarding the true r and K values. In this, the values of r and K are centered at their true value in the simulation, with reduced variation given in the standard deviation. </a:t>
            </a:r>
          </a:p>
          <a:p>
            <a:endParaRPr lang="en-US" dirty="0"/>
          </a:p>
          <a:p>
            <a:r>
              <a:rPr lang="en-US" dirty="0"/>
              <a:t>Both models show posterior estimates for MSY, K, and r that contain the true value. The mean of each of these values is closer to the true value in </a:t>
            </a:r>
            <a:r>
              <a:rPr lang="en-US" dirty="0" err="1"/>
              <a:t>Scen</a:t>
            </a:r>
            <a:r>
              <a:rPr lang="en-US" dirty="0"/>
              <a:t> A than in </a:t>
            </a:r>
            <a:r>
              <a:rPr lang="en-US" dirty="0" err="1"/>
              <a:t>Scen</a:t>
            </a:r>
            <a:r>
              <a:rPr lang="en-US" dirty="0"/>
              <a:t> B, which is to be expected. Additionally, the addition of informative priors reduces the uncertainty in the posterior, as seen in the reduced with of the confidence interval. Both models risk some extent of overharvest, as their estimate of MSY is greater than true MSY. </a:t>
            </a:r>
          </a:p>
          <a:p>
            <a:endParaRPr lang="en-US" dirty="0"/>
          </a:p>
        </p:txBody>
      </p:sp>
      <p:sp>
        <p:nvSpPr>
          <p:cNvPr id="4" name="Slide Number Placeholder 3"/>
          <p:cNvSpPr>
            <a:spLocks noGrp="1"/>
          </p:cNvSpPr>
          <p:nvPr>
            <p:ph type="sldNum" sz="quarter" idx="5"/>
          </p:nvPr>
        </p:nvSpPr>
        <p:spPr/>
        <p:txBody>
          <a:bodyPr/>
          <a:lstStyle/>
          <a:p>
            <a:fld id="{DD90F3FA-E17E-254F-A6BD-62289DDD833E}" type="slidenum">
              <a:rPr lang="en-US" smtClean="0"/>
              <a:t>7</a:t>
            </a:fld>
            <a:endParaRPr lang="en-US"/>
          </a:p>
        </p:txBody>
      </p:sp>
    </p:spTree>
    <p:extLst>
      <p:ext uri="{BB962C8B-B14F-4D97-AF65-F5344CB8AC3E}">
        <p14:creationId xmlns:p14="http://schemas.microsoft.com/office/powerpoint/2010/main" val="32434569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model uses the </a:t>
            </a:r>
            <a:r>
              <a:rPr lang="en-US" dirty="0" err="1"/>
              <a:t>sets.q</a:t>
            </a:r>
            <a:r>
              <a:rPr lang="en-US" dirty="0"/>
              <a:t> function within JABBA to assign catchability to different CPUE indices. This subsets catchability into five different time periods. </a:t>
            </a:r>
          </a:p>
        </p:txBody>
      </p:sp>
      <p:sp>
        <p:nvSpPr>
          <p:cNvPr id="4" name="Slide Number Placeholder 3"/>
          <p:cNvSpPr>
            <a:spLocks noGrp="1"/>
          </p:cNvSpPr>
          <p:nvPr>
            <p:ph type="sldNum" sz="quarter" idx="5"/>
          </p:nvPr>
        </p:nvSpPr>
        <p:spPr/>
        <p:txBody>
          <a:bodyPr/>
          <a:lstStyle/>
          <a:p>
            <a:fld id="{DD90F3FA-E17E-254F-A6BD-62289DDD833E}" type="slidenum">
              <a:rPr lang="en-US" smtClean="0"/>
              <a:t>8</a:t>
            </a:fld>
            <a:endParaRPr lang="en-US"/>
          </a:p>
        </p:txBody>
      </p:sp>
    </p:spTree>
    <p:extLst>
      <p:ext uri="{BB962C8B-B14F-4D97-AF65-F5344CB8AC3E}">
        <p14:creationId xmlns:p14="http://schemas.microsoft.com/office/powerpoint/2010/main" val="426467711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model is a Stan model that encodes for a random walk on q in order to allow the model to adapt to variable fisher </a:t>
            </a:r>
            <a:r>
              <a:rPr lang="en-US" dirty="0" err="1"/>
              <a:t>effiency</a:t>
            </a:r>
            <a:r>
              <a:rPr lang="en-US" dirty="0"/>
              <a:t>, rather than forcing it to be constant or piecewise. </a:t>
            </a:r>
          </a:p>
          <a:p>
            <a:endParaRPr lang="en-US" dirty="0"/>
          </a:p>
          <a:p>
            <a:r>
              <a:rPr lang="en-US" dirty="0"/>
              <a:t>Comparing the random walk and constant q Stan models using WAIC and LOOIC, the random walk model is preferred. This indicates that the random walk on q improves the predictive performance of a model when fitting to data that has adaptive fisher behavior. </a:t>
            </a:r>
          </a:p>
        </p:txBody>
      </p:sp>
      <p:sp>
        <p:nvSpPr>
          <p:cNvPr id="4" name="Slide Number Placeholder 3"/>
          <p:cNvSpPr>
            <a:spLocks noGrp="1"/>
          </p:cNvSpPr>
          <p:nvPr>
            <p:ph type="sldNum" sz="quarter" idx="5"/>
          </p:nvPr>
        </p:nvSpPr>
        <p:spPr/>
        <p:txBody>
          <a:bodyPr/>
          <a:lstStyle/>
          <a:p>
            <a:fld id="{DD90F3FA-E17E-254F-A6BD-62289DDD833E}" type="slidenum">
              <a:rPr lang="en-US" smtClean="0"/>
              <a:t>9</a:t>
            </a:fld>
            <a:endParaRPr lang="en-US"/>
          </a:p>
        </p:txBody>
      </p:sp>
    </p:spTree>
    <p:extLst>
      <p:ext uri="{BB962C8B-B14F-4D97-AF65-F5344CB8AC3E}">
        <p14:creationId xmlns:p14="http://schemas.microsoft.com/office/powerpoint/2010/main" val="28365068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Random Walk model and informative priors models appear to do the best at estimating MSY, accounting for K and r. While the piecewise model estimates MSY somewhat successfully it is severely biased in its estimate for K. </a:t>
            </a:r>
          </a:p>
          <a:p>
            <a:endParaRPr lang="en-US" dirty="0"/>
          </a:p>
          <a:p>
            <a:r>
              <a:rPr lang="en-US" dirty="0"/>
              <a:t>Overarchingly, these results indicate that data that has a variable (rather than constant) q increases uncertainty when using standard methods for fisheries stock assessment. These have the potential to indicate that the stock is in better condition than it truly is and overestimate MSY, both of which may influence policy setting and result in overharvest. </a:t>
            </a:r>
          </a:p>
          <a:p>
            <a:endParaRPr lang="en-US" dirty="0"/>
          </a:p>
          <a:p>
            <a:r>
              <a:rPr lang="en-US" dirty="0"/>
              <a:t>The use of informative priors, that suggest a strong biological understanding of the fisheries system, work to combat this and decrease the uncertainty in posterior </a:t>
            </a:r>
            <a:r>
              <a:rPr lang="en-US" dirty="0" err="1"/>
              <a:t>estimatates</a:t>
            </a:r>
            <a:r>
              <a:rPr lang="en-US" dirty="0"/>
              <a:t> of stock parameters. Putting a random walk on q performs similarly in its ability to extract accurate estimates of MSY, but can be more time intensive to produce. </a:t>
            </a:r>
          </a:p>
          <a:p>
            <a:endParaRPr lang="en-US" dirty="0"/>
          </a:p>
          <a:p>
            <a:r>
              <a:rPr lang="en-US" dirty="0"/>
              <a:t>These show that it is necessary to consider both the behavior of fishers as well as biological parameters when conducting stock assessments. Given that fisheries policy utilizes levers (TAC, ITQs, etc.) that aim to target human behavior, an understanding of human behavior as well as fisheries parameters allows for decreased uncertainty and greater accuracy in resultant stock assessments. </a:t>
            </a:r>
          </a:p>
          <a:p>
            <a:endParaRPr lang="en-US" dirty="0"/>
          </a:p>
        </p:txBody>
      </p:sp>
      <p:sp>
        <p:nvSpPr>
          <p:cNvPr id="4" name="Slide Number Placeholder 3"/>
          <p:cNvSpPr>
            <a:spLocks noGrp="1"/>
          </p:cNvSpPr>
          <p:nvPr>
            <p:ph type="sldNum" sz="quarter" idx="5"/>
          </p:nvPr>
        </p:nvSpPr>
        <p:spPr/>
        <p:txBody>
          <a:bodyPr/>
          <a:lstStyle/>
          <a:p>
            <a:fld id="{DD90F3FA-E17E-254F-A6BD-62289DDD833E}" type="slidenum">
              <a:rPr lang="en-US" smtClean="0"/>
              <a:t>10</a:t>
            </a:fld>
            <a:endParaRPr lang="en-US"/>
          </a:p>
        </p:txBody>
      </p:sp>
    </p:spTree>
    <p:extLst>
      <p:ext uri="{BB962C8B-B14F-4D97-AF65-F5344CB8AC3E}">
        <p14:creationId xmlns:p14="http://schemas.microsoft.com/office/powerpoint/2010/main" val="38938080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3BB414-CD4C-D01A-01A2-DC7E103A8C0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D98C08F-FB07-5B18-D813-378E3E4B77B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E6F1410-D420-EE1E-54A2-D056EC3859B7}"/>
              </a:ext>
            </a:extLst>
          </p:cNvPr>
          <p:cNvSpPr>
            <a:spLocks noGrp="1"/>
          </p:cNvSpPr>
          <p:nvPr>
            <p:ph type="dt" sz="half" idx="10"/>
          </p:nvPr>
        </p:nvSpPr>
        <p:spPr/>
        <p:txBody>
          <a:bodyPr/>
          <a:lstStyle/>
          <a:p>
            <a:fld id="{D193D83B-2136-C341-A2F1-141D65360F5F}" type="datetimeFigureOut">
              <a:rPr lang="en-US" smtClean="0"/>
              <a:t>4/21/26</a:t>
            </a:fld>
            <a:endParaRPr lang="en-US"/>
          </a:p>
        </p:txBody>
      </p:sp>
      <p:sp>
        <p:nvSpPr>
          <p:cNvPr id="5" name="Footer Placeholder 4">
            <a:extLst>
              <a:ext uri="{FF2B5EF4-FFF2-40B4-BE49-F238E27FC236}">
                <a16:creationId xmlns:a16="http://schemas.microsoft.com/office/drawing/2014/main" id="{8C766390-B25F-5BCE-E4D5-238988EFE47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40EED14-0C6D-0293-CDAB-A9D46774EF67}"/>
              </a:ext>
            </a:extLst>
          </p:cNvPr>
          <p:cNvSpPr>
            <a:spLocks noGrp="1"/>
          </p:cNvSpPr>
          <p:nvPr>
            <p:ph type="sldNum" sz="quarter" idx="12"/>
          </p:nvPr>
        </p:nvSpPr>
        <p:spPr/>
        <p:txBody>
          <a:bodyPr/>
          <a:lstStyle/>
          <a:p>
            <a:fld id="{DEBF25BF-E88C-9D45-A5CF-578012C606FB}" type="slidenum">
              <a:rPr lang="en-US" smtClean="0"/>
              <a:t>‹#›</a:t>
            </a:fld>
            <a:endParaRPr lang="en-US"/>
          </a:p>
        </p:txBody>
      </p:sp>
    </p:spTree>
    <p:extLst>
      <p:ext uri="{BB962C8B-B14F-4D97-AF65-F5344CB8AC3E}">
        <p14:creationId xmlns:p14="http://schemas.microsoft.com/office/powerpoint/2010/main" val="29224649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072D90-1A1D-A3F2-2289-708659CC4FB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5F947A8-DF97-80C7-B019-04DB31B8935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2876335-DA1F-B087-F4BB-28A6DDCD1678}"/>
              </a:ext>
            </a:extLst>
          </p:cNvPr>
          <p:cNvSpPr>
            <a:spLocks noGrp="1"/>
          </p:cNvSpPr>
          <p:nvPr>
            <p:ph type="dt" sz="half" idx="10"/>
          </p:nvPr>
        </p:nvSpPr>
        <p:spPr/>
        <p:txBody>
          <a:bodyPr/>
          <a:lstStyle/>
          <a:p>
            <a:fld id="{D193D83B-2136-C341-A2F1-141D65360F5F}" type="datetimeFigureOut">
              <a:rPr lang="en-US" smtClean="0"/>
              <a:t>4/21/26</a:t>
            </a:fld>
            <a:endParaRPr lang="en-US"/>
          </a:p>
        </p:txBody>
      </p:sp>
      <p:sp>
        <p:nvSpPr>
          <p:cNvPr id="5" name="Footer Placeholder 4">
            <a:extLst>
              <a:ext uri="{FF2B5EF4-FFF2-40B4-BE49-F238E27FC236}">
                <a16:creationId xmlns:a16="http://schemas.microsoft.com/office/drawing/2014/main" id="{05D681D8-79E1-78E9-8C56-DA713321FBD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0831351-5DEB-38F9-8E7E-898D362D4E48}"/>
              </a:ext>
            </a:extLst>
          </p:cNvPr>
          <p:cNvSpPr>
            <a:spLocks noGrp="1"/>
          </p:cNvSpPr>
          <p:nvPr>
            <p:ph type="sldNum" sz="quarter" idx="12"/>
          </p:nvPr>
        </p:nvSpPr>
        <p:spPr/>
        <p:txBody>
          <a:bodyPr/>
          <a:lstStyle/>
          <a:p>
            <a:fld id="{DEBF25BF-E88C-9D45-A5CF-578012C606FB}" type="slidenum">
              <a:rPr lang="en-US" smtClean="0"/>
              <a:t>‹#›</a:t>
            </a:fld>
            <a:endParaRPr lang="en-US"/>
          </a:p>
        </p:txBody>
      </p:sp>
    </p:spTree>
    <p:extLst>
      <p:ext uri="{BB962C8B-B14F-4D97-AF65-F5344CB8AC3E}">
        <p14:creationId xmlns:p14="http://schemas.microsoft.com/office/powerpoint/2010/main" val="33355809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263E98-5CB4-DBB8-6BCE-7309E6A2214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5F5B773-F3F8-CE35-D6C4-5F902786A3E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C60A2F3-D57F-ECAC-B2FE-C9C9025B1661}"/>
              </a:ext>
            </a:extLst>
          </p:cNvPr>
          <p:cNvSpPr>
            <a:spLocks noGrp="1"/>
          </p:cNvSpPr>
          <p:nvPr>
            <p:ph type="dt" sz="half" idx="10"/>
          </p:nvPr>
        </p:nvSpPr>
        <p:spPr/>
        <p:txBody>
          <a:bodyPr/>
          <a:lstStyle/>
          <a:p>
            <a:fld id="{D193D83B-2136-C341-A2F1-141D65360F5F}" type="datetimeFigureOut">
              <a:rPr lang="en-US" smtClean="0"/>
              <a:t>4/21/26</a:t>
            </a:fld>
            <a:endParaRPr lang="en-US"/>
          </a:p>
        </p:txBody>
      </p:sp>
      <p:sp>
        <p:nvSpPr>
          <p:cNvPr id="5" name="Footer Placeholder 4">
            <a:extLst>
              <a:ext uri="{FF2B5EF4-FFF2-40B4-BE49-F238E27FC236}">
                <a16:creationId xmlns:a16="http://schemas.microsoft.com/office/drawing/2014/main" id="{F3B74B41-98EE-AA96-716D-DD3649B1481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CC91CD-66EA-088C-FA64-8677339410EB}"/>
              </a:ext>
            </a:extLst>
          </p:cNvPr>
          <p:cNvSpPr>
            <a:spLocks noGrp="1"/>
          </p:cNvSpPr>
          <p:nvPr>
            <p:ph type="sldNum" sz="quarter" idx="12"/>
          </p:nvPr>
        </p:nvSpPr>
        <p:spPr/>
        <p:txBody>
          <a:bodyPr/>
          <a:lstStyle/>
          <a:p>
            <a:fld id="{DEBF25BF-E88C-9D45-A5CF-578012C606FB}" type="slidenum">
              <a:rPr lang="en-US" smtClean="0"/>
              <a:t>‹#›</a:t>
            </a:fld>
            <a:endParaRPr lang="en-US"/>
          </a:p>
        </p:txBody>
      </p:sp>
    </p:spTree>
    <p:extLst>
      <p:ext uri="{BB962C8B-B14F-4D97-AF65-F5344CB8AC3E}">
        <p14:creationId xmlns:p14="http://schemas.microsoft.com/office/powerpoint/2010/main" val="11328573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51C29E-063F-17E8-845E-BF24C509157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C7A9A38-DE15-002E-6254-55EAF5F0A50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FA5E860-A0CF-04A6-E09C-323F4E76C29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42DE7AB-AD9F-2AC3-BEAE-2820F49005F6}"/>
              </a:ext>
            </a:extLst>
          </p:cNvPr>
          <p:cNvSpPr>
            <a:spLocks noGrp="1"/>
          </p:cNvSpPr>
          <p:nvPr>
            <p:ph type="dt" sz="half" idx="10"/>
          </p:nvPr>
        </p:nvSpPr>
        <p:spPr/>
        <p:txBody>
          <a:bodyPr/>
          <a:lstStyle/>
          <a:p>
            <a:fld id="{D193D83B-2136-C341-A2F1-141D65360F5F}" type="datetimeFigureOut">
              <a:rPr lang="en-US" smtClean="0"/>
              <a:t>4/21/26</a:t>
            </a:fld>
            <a:endParaRPr lang="en-US"/>
          </a:p>
        </p:txBody>
      </p:sp>
      <p:sp>
        <p:nvSpPr>
          <p:cNvPr id="6" name="Footer Placeholder 5">
            <a:extLst>
              <a:ext uri="{FF2B5EF4-FFF2-40B4-BE49-F238E27FC236}">
                <a16:creationId xmlns:a16="http://schemas.microsoft.com/office/drawing/2014/main" id="{F094219A-ED47-B068-F0AC-9359539AD6F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69586D6-3A69-3383-148D-ACB228AADB93}"/>
              </a:ext>
            </a:extLst>
          </p:cNvPr>
          <p:cNvSpPr>
            <a:spLocks noGrp="1"/>
          </p:cNvSpPr>
          <p:nvPr>
            <p:ph type="sldNum" sz="quarter" idx="12"/>
          </p:nvPr>
        </p:nvSpPr>
        <p:spPr/>
        <p:txBody>
          <a:bodyPr/>
          <a:lstStyle/>
          <a:p>
            <a:fld id="{DEBF25BF-E88C-9D45-A5CF-578012C606FB}" type="slidenum">
              <a:rPr lang="en-US" smtClean="0"/>
              <a:t>‹#›</a:t>
            </a:fld>
            <a:endParaRPr lang="en-US"/>
          </a:p>
        </p:txBody>
      </p:sp>
    </p:spTree>
    <p:extLst>
      <p:ext uri="{BB962C8B-B14F-4D97-AF65-F5344CB8AC3E}">
        <p14:creationId xmlns:p14="http://schemas.microsoft.com/office/powerpoint/2010/main" val="30580709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28050D-9593-8F89-BAD2-360A5C885F9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71F369C-E035-6CB2-B9AA-B2916124C05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BF37684-2998-53BB-D5C0-8BA34E6B223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34584B1-1A1E-A80B-F0EA-6A6FB57B681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00F2BBB-62B8-E9B1-F13E-B15B05018F5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1B24B61-79B5-3262-9632-6E83812D94E3}"/>
              </a:ext>
            </a:extLst>
          </p:cNvPr>
          <p:cNvSpPr>
            <a:spLocks noGrp="1"/>
          </p:cNvSpPr>
          <p:nvPr>
            <p:ph type="dt" sz="half" idx="10"/>
          </p:nvPr>
        </p:nvSpPr>
        <p:spPr/>
        <p:txBody>
          <a:bodyPr/>
          <a:lstStyle/>
          <a:p>
            <a:fld id="{D193D83B-2136-C341-A2F1-141D65360F5F}" type="datetimeFigureOut">
              <a:rPr lang="en-US" smtClean="0"/>
              <a:t>4/21/26</a:t>
            </a:fld>
            <a:endParaRPr lang="en-US"/>
          </a:p>
        </p:txBody>
      </p:sp>
      <p:sp>
        <p:nvSpPr>
          <p:cNvPr id="8" name="Footer Placeholder 7">
            <a:extLst>
              <a:ext uri="{FF2B5EF4-FFF2-40B4-BE49-F238E27FC236}">
                <a16:creationId xmlns:a16="http://schemas.microsoft.com/office/drawing/2014/main" id="{FF1918F0-4AC7-3146-7A49-FFC7B7208E5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B92403C-6379-8A10-CCF8-4D0DDED6E86E}"/>
              </a:ext>
            </a:extLst>
          </p:cNvPr>
          <p:cNvSpPr>
            <a:spLocks noGrp="1"/>
          </p:cNvSpPr>
          <p:nvPr>
            <p:ph type="sldNum" sz="quarter" idx="12"/>
          </p:nvPr>
        </p:nvSpPr>
        <p:spPr/>
        <p:txBody>
          <a:bodyPr/>
          <a:lstStyle/>
          <a:p>
            <a:fld id="{DEBF25BF-E88C-9D45-A5CF-578012C606FB}" type="slidenum">
              <a:rPr lang="en-US" smtClean="0"/>
              <a:t>‹#›</a:t>
            </a:fld>
            <a:endParaRPr lang="en-US"/>
          </a:p>
        </p:txBody>
      </p:sp>
    </p:spTree>
    <p:extLst>
      <p:ext uri="{BB962C8B-B14F-4D97-AF65-F5344CB8AC3E}">
        <p14:creationId xmlns:p14="http://schemas.microsoft.com/office/powerpoint/2010/main" val="1747314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13A89B-546B-2735-6D74-CE669B773AB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BE91FB9-CE70-C9BC-42B0-FAA5CE39514E}"/>
              </a:ext>
            </a:extLst>
          </p:cNvPr>
          <p:cNvSpPr>
            <a:spLocks noGrp="1"/>
          </p:cNvSpPr>
          <p:nvPr>
            <p:ph type="dt" sz="half" idx="10"/>
          </p:nvPr>
        </p:nvSpPr>
        <p:spPr/>
        <p:txBody>
          <a:bodyPr/>
          <a:lstStyle/>
          <a:p>
            <a:fld id="{D193D83B-2136-C341-A2F1-141D65360F5F}" type="datetimeFigureOut">
              <a:rPr lang="en-US" smtClean="0"/>
              <a:t>4/21/26</a:t>
            </a:fld>
            <a:endParaRPr lang="en-US"/>
          </a:p>
        </p:txBody>
      </p:sp>
      <p:sp>
        <p:nvSpPr>
          <p:cNvPr id="4" name="Footer Placeholder 3">
            <a:extLst>
              <a:ext uri="{FF2B5EF4-FFF2-40B4-BE49-F238E27FC236}">
                <a16:creationId xmlns:a16="http://schemas.microsoft.com/office/drawing/2014/main" id="{2E31E1C2-D9A4-6937-3116-AB803D7E5FD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9249677-720A-DE2D-8F37-0AF2C6A3B6F6}"/>
              </a:ext>
            </a:extLst>
          </p:cNvPr>
          <p:cNvSpPr>
            <a:spLocks noGrp="1"/>
          </p:cNvSpPr>
          <p:nvPr>
            <p:ph type="sldNum" sz="quarter" idx="12"/>
          </p:nvPr>
        </p:nvSpPr>
        <p:spPr/>
        <p:txBody>
          <a:bodyPr/>
          <a:lstStyle/>
          <a:p>
            <a:fld id="{DEBF25BF-E88C-9D45-A5CF-578012C606FB}" type="slidenum">
              <a:rPr lang="en-US" smtClean="0"/>
              <a:t>‹#›</a:t>
            </a:fld>
            <a:endParaRPr lang="en-US"/>
          </a:p>
        </p:txBody>
      </p:sp>
    </p:spTree>
    <p:extLst>
      <p:ext uri="{BB962C8B-B14F-4D97-AF65-F5344CB8AC3E}">
        <p14:creationId xmlns:p14="http://schemas.microsoft.com/office/powerpoint/2010/main" val="40784435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3AFD043-9630-B609-B70F-659BED7F51E8}"/>
              </a:ext>
            </a:extLst>
          </p:cNvPr>
          <p:cNvSpPr>
            <a:spLocks noGrp="1"/>
          </p:cNvSpPr>
          <p:nvPr>
            <p:ph type="dt" sz="half" idx="10"/>
          </p:nvPr>
        </p:nvSpPr>
        <p:spPr/>
        <p:txBody>
          <a:bodyPr/>
          <a:lstStyle/>
          <a:p>
            <a:fld id="{D193D83B-2136-C341-A2F1-141D65360F5F}" type="datetimeFigureOut">
              <a:rPr lang="en-US" smtClean="0"/>
              <a:t>4/21/26</a:t>
            </a:fld>
            <a:endParaRPr lang="en-US"/>
          </a:p>
        </p:txBody>
      </p:sp>
      <p:sp>
        <p:nvSpPr>
          <p:cNvPr id="3" name="Footer Placeholder 2">
            <a:extLst>
              <a:ext uri="{FF2B5EF4-FFF2-40B4-BE49-F238E27FC236}">
                <a16:creationId xmlns:a16="http://schemas.microsoft.com/office/drawing/2014/main" id="{D9B9825C-F462-B9C8-2482-57C807F36EC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10CB052-6500-D2FA-6ADF-CD45F303A7A0}"/>
              </a:ext>
            </a:extLst>
          </p:cNvPr>
          <p:cNvSpPr>
            <a:spLocks noGrp="1"/>
          </p:cNvSpPr>
          <p:nvPr>
            <p:ph type="sldNum" sz="quarter" idx="12"/>
          </p:nvPr>
        </p:nvSpPr>
        <p:spPr/>
        <p:txBody>
          <a:bodyPr/>
          <a:lstStyle/>
          <a:p>
            <a:fld id="{DEBF25BF-E88C-9D45-A5CF-578012C606FB}" type="slidenum">
              <a:rPr lang="en-US" smtClean="0"/>
              <a:t>‹#›</a:t>
            </a:fld>
            <a:endParaRPr lang="en-US"/>
          </a:p>
        </p:txBody>
      </p:sp>
    </p:spTree>
    <p:extLst>
      <p:ext uri="{BB962C8B-B14F-4D97-AF65-F5344CB8AC3E}">
        <p14:creationId xmlns:p14="http://schemas.microsoft.com/office/powerpoint/2010/main" val="31614050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1DBC21-348E-2835-A330-77109844375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560D47F-697E-B65A-4B72-3753A0C84CE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76183FC-6ABE-A55F-871B-505F1ED26A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0C95481-3CFE-BB49-F0E9-CC23541C07E8}"/>
              </a:ext>
            </a:extLst>
          </p:cNvPr>
          <p:cNvSpPr>
            <a:spLocks noGrp="1"/>
          </p:cNvSpPr>
          <p:nvPr>
            <p:ph type="dt" sz="half" idx="10"/>
          </p:nvPr>
        </p:nvSpPr>
        <p:spPr/>
        <p:txBody>
          <a:bodyPr/>
          <a:lstStyle/>
          <a:p>
            <a:fld id="{D193D83B-2136-C341-A2F1-141D65360F5F}" type="datetimeFigureOut">
              <a:rPr lang="en-US" smtClean="0"/>
              <a:t>4/21/26</a:t>
            </a:fld>
            <a:endParaRPr lang="en-US"/>
          </a:p>
        </p:txBody>
      </p:sp>
      <p:sp>
        <p:nvSpPr>
          <p:cNvPr id="6" name="Footer Placeholder 5">
            <a:extLst>
              <a:ext uri="{FF2B5EF4-FFF2-40B4-BE49-F238E27FC236}">
                <a16:creationId xmlns:a16="http://schemas.microsoft.com/office/drawing/2014/main" id="{44B9E109-13EF-6A3A-B8C6-64A2D35D0A9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7A5D418-1E04-D39E-BE45-B9A385E0F678}"/>
              </a:ext>
            </a:extLst>
          </p:cNvPr>
          <p:cNvSpPr>
            <a:spLocks noGrp="1"/>
          </p:cNvSpPr>
          <p:nvPr>
            <p:ph type="sldNum" sz="quarter" idx="12"/>
          </p:nvPr>
        </p:nvSpPr>
        <p:spPr/>
        <p:txBody>
          <a:bodyPr/>
          <a:lstStyle/>
          <a:p>
            <a:fld id="{DEBF25BF-E88C-9D45-A5CF-578012C606FB}" type="slidenum">
              <a:rPr lang="en-US" smtClean="0"/>
              <a:t>‹#›</a:t>
            </a:fld>
            <a:endParaRPr lang="en-US"/>
          </a:p>
        </p:txBody>
      </p:sp>
    </p:spTree>
    <p:extLst>
      <p:ext uri="{BB962C8B-B14F-4D97-AF65-F5344CB8AC3E}">
        <p14:creationId xmlns:p14="http://schemas.microsoft.com/office/powerpoint/2010/main" val="12326905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21E0FB-B710-B5DC-1391-B607A86C5E1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1353793-6C18-D577-48DE-127BA5D2BA1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2A1506F-E19D-CC39-2416-D48F6151E47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15F22A7-7497-22FC-0699-879879456F89}"/>
              </a:ext>
            </a:extLst>
          </p:cNvPr>
          <p:cNvSpPr>
            <a:spLocks noGrp="1"/>
          </p:cNvSpPr>
          <p:nvPr>
            <p:ph type="dt" sz="half" idx="10"/>
          </p:nvPr>
        </p:nvSpPr>
        <p:spPr/>
        <p:txBody>
          <a:bodyPr/>
          <a:lstStyle/>
          <a:p>
            <a:fld id="{D193D83B-2136-C341-A2F1-141D65360F5F}" type="datetimeFigureOut">
              <a:rPr lang="en-US" smtClean="0"/>
              <a:t>4/21/26</a:t>
            </a:fld>
            <a:endParaRPr lang="en-US"/>
          </a:p>
        </p:txBody>
      </p:sp>
      <p:sp>
        <p:nvSpPr>
          <p:cNvPr id="6" name="Footer Placeholder 5">
            <a:extLst>
              <a:ext uri="{FF2B5EF4-FFF2-40B4-BE49-F238E27FC236}">
                <a16:creationId xmlns:a16="http://schemas.microsoft.com/office/drawing/2014/main" id="{670878E4-FAB0-3F37-690C-FAD575CF0AE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D3D9574-8369-ABA7-9CB0-A073A30BEBCF}"/>
              </a:ext>
            </a:extLst>
          </p:cNvPr>
          <p:cNvSpPr>
            <a:spLocks noGrp="1"/>
          </p:cNvSpPr>
          <p:nvPr>
            <p:ph type="sldNum" sz="quarter" idx="12"/>
          </p:nvPr>
        </p:nvSpPr>
        <p:spPr/>
        <p:txBody>
          <a:bodyPr/>
          <a:lstStyle/>
          <a:p>
            <a:fld id="{DEBF25BF-E88C-9D45-A5CF-578012C606FB}" type="slidenum">
              <a:rPr lang="en-US" smtClean="0"/>
              <a:t>‹#›</a:t>
            </a:fld>
            <a:endParaRPr lang="en-US"/>
          </a:p>
        </p:txBody>
      </p:sp>
    </p:spTree>
    <p:extLst>
      <p:ext uri="{BB962C8B-B14F-4D97-AF65-F5344CB8AC3E}">
        <p14:creationId xmlns:p14="http://schemas.microsoft.com/office/powerpoint/2010/main" val="37734677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5DCEA7-068F-B1B6-7ACC-8926A53FA01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84F3197-2438-51BB-DCB6-754E968354B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D91F235-E361-1F80-FC16-F44C586D7FF1}"/>
              </a:ext>
            </a:extLst>
          </p:cNvPr>
          <p:cNvSpPr>
            <a:spLocks noGrp="1"/>
          </p:cNvSpPr>
          <p:nvPr>
            <p:ph type="dt" sz="half" idx="10"/>
          </p:nvPr>
        </p:nvSpPr>
        <p:spPr/>
        <p:txBody>
          <a:bodyPr/>
          <a:lstStyle/>
          <a:p>
            <a:fld id="{D193D83B-2136-C341-A2F1-141D65360F5F}" type="datetimeFigureOut">
              <a:rPr lang="en-US" smtClean="0"/>
              <a:t>4/21/26</a:t>
            </a:fld>
            <a:endParaRPr lang="en-US"/>
          </a:p>
        </p:txBody>
      </p:sp>
      <p:sp>
        <p:nvSpPr>
          <p:cNvPr id="5" name="Footer Placeholder 4">
            <a:extLst>
              <a:ext uri="{FF2B5EF4-FFF2-40B4-BE49-F238E27FC236}">
                <a16:creationId xmlns:a16="http://schemas.microsoft.com/office/drawing/2014/main" id="{7A107C9D-3C67-2A4A-64B3-86BDE9FA230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A1AB3BA-2535-AFE3-709D-5635D1937ED2}"/>
              </a:ext>
            </a:extLst>
          </p:cNvPr>
          <p:cNvSpPr>
            <a:spLocks noGrp="1"/>
          </p:cNvSpPr>
          <p:nvPr>
            <p:ph type="sldNum" sz="quarter" idx="12"/>
          </p:nvPr>
        </p:nvSpPr>
        <p:spPr/>
        <p:txBody>
          <a:bodyPr/>
          <a:lstStyle/>
          <a:p>
            <a:fld id="{DEBF25BF-E88C-9D45-A5CF-578012C606FB}" type="slidenum">
              <a:rPr lang="en-US" smtClean="0"/>
              <a:t>‹#›</a:t>
            </a:fld>
            <a:endParaRPr lang="en-US"/>
          </a:p>
        </p:txBody>
      </p:sp>
    </p:spTree>
    <p:extLst>
      <p:ext uri="{BB962C8B-B14F-4D97-AF65-F5344CB8AC3E}">
        <p14:creationId xmlns:p14="http://schemas.microsoft.com/office/powerpoint/2010/main" val="26264894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B4BC2F8-4714-8FEE-E67A-757145F62A2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C573D09-8178-F03F-5E6E-9C757796804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F8CBA83-5C83-91EF-9169-4534BB0A96C1}"/>
              </a:ext>
            </a:extLst>
          </p:cNvPr>
          <p:cNvSpPr>
            <a:spLocks noGrp="1"/>
          </p:cNvSpPr>
          <p:nvPr>
            <p:ph type="dt" sz="half" idx="10"/>
          </p:nvPr>
        </p:nvSpPr>
        <p:spPr/>
        <p:txBody>
          <a:bodyPr/>
          <a:lstStyle/>
          <a:p>
            <a:fld id="{D193D83B-2136-C341-A2F1-141D65360F5F}" type="datetimeFigureOut">
              <a:rPr lang="en-US" smtClean="0"/>
              <a:t>4/21/26</a:t>
            </a:fld>
            <a:endParaRPr lang="en-US"/>
          </a:p>
        </p:txBody>
      </p:sp>
      <p:sp>
        <p:nvSpPr>
          <p:cNvPr id="5" name="Footer Placeholder 4">
            <a:extLst>
              <a:ext uri="{FF2B5EF4-FFF2-40B4-BE49-F238E27FC236}">
                <a16:creationId xmlns:a16="http://schemas.microsoft.com/office/drawing/2014/main" id="{5C41BCAF-53D5-81D7-1838-143D141F6D1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26984EC-1005-210E-EC21-3E723F1E779F}"/>
              </a:ext>
            </a:extLst>
          </p:cNvPr>
          <p:cNvSpPr>
            <a:spLocks noGrp="1"/>
          </p:cNvSpPr>
          <p:nvPr>
            <p:ph type="sldNum" sz="quarter" idx="12"/>
          </p:nvPr>
        </p:nvSpPr>
        <p:spPr/>
        <p:txBody>
          <a:bodyPr/>
          <a:lstStyle/>
          <a:p>
            <a:fld id="{DEBF25BF-E88C-9D45-A5CF-578012C606FB}" type="slidenum">
              <a:rPr lang="en-US" smtClean="0"/>
              <a:t>‹#›</a:t>
            </a:fld>
            <a:endParaRPr lang="en-US"/>
          </a:p>
        </p:txBody>
      </p:sp>
    </p:spTree>
    <p:extLst>
      <p:ext uri="{BB962C8B-B14F-4D97-AF65-F5344CB8AC3E}">
        <p14:creationId xmlns:p14="http://schemas.microsoft.com/office/powerpoint/2010/main" val="21379522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31199F1-42BD-0D09-5B0F-D5B5088FB71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16071A1-40FE-A567-F021-B3E55E890A6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E81035F-C31D-CF42-4B55-843FAE2E165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193D83B-2136-C341-A2F1-141D65360F5F}" type="datetimeFigureOut">
              <a:rPr lang="en-US" smtClean="0"/>
              <a:t>4/21/26</a:t>
            </a:fld>
            <a:endParaRPr lang="en-US"/>
          </a:p>
        </p:txBody>
      </p:sp>
      <p:sp>
        <p:nvSpPr>
          <p:cNvPr id="5" name="Footer Placeholder 4">
            <a:extLst>
              <a:ext uri="{FF2B5EF4-FFF2-40B4-BE49-F238E27FC236}">
                <a16:creationId xmlns:a16="http://schemas.microsoft.com/office/drawing/2014/main" id="{2E4F7E4F-A554-E7CC-1BB9-0D3481318C7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611AFBD1-3E04-45DE-5C9A-8750A009BBE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EBF25BF-E88C-9D45-A5CF-578012C606FB}" type="slidenum">
              <a:rPr lang="en-US" smtClean="0"/>
              <a:t>‹#›</a:t>
            </a:fld>
            <a:endParaRPr lang="en-US"/>
          </a:p>
        </p:txBody>
      </p:sp>
    </p:spTree>
    <p:extLst>
      <p:ext uri="{BB962C8B-B14F-4D97-AF65-F5344CB8AC3E}">
        <p14:creationId xmlns:p14="http://schemas.microsoft.com/office/powerpoint/2010/main" val="20111505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1.png"/><Relationship Id="rId4"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2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6683EB-C284-3E83-5CB5-9570D332927D}"/>
              </a:ext>
            </a:extLst>
          </p:cNvPr>
          <p:cNvSpPr>
            <a:spLocks noGrp="1"/>
          </p:cNvSpPr>
          <p:nvPr>
            <p:ph type="ctrTitle"/>
          </p:nvPr>
        </p:nvSpPr>
        <p:spPr/>
        <p:txBody>
          <a:bodyPr/>
          <a:lstStyle/>
          <a:p>
            <a:r>
              <a:rPr lang="en-US" dirty="0"/>
              <a:t>Surplus Production Models for Adaptive Fisher Behavior</a:t>
            </a:r>
          </a:p>
        </p:txBody>
      </p:sp>
      <p:sp>
        <p:nvSpPr>
          <p:cNvPr id="3" name="Subtitle 2">
            <a:extLst>
              <a:ext uri="{FF2B5EF4-FFF2-40B4-BE49-F238E27FC236}">
                <a16:creationId xmlns:a16="http://schemas.microsoft.com/office/drawing/2014/main" id="{817CB32A-5809-E5FD-C570-63EF0852E0A1}"/>
              </a:ext>
            </a:extLst>
          </p:cNvPr>
          <p:cNvSpPr>
            <a:spLocks noGrp="1"/>
          </p:cNvSpPr>
          <p:nvPr>
            <p:ph type="subTitle" idx="1"/>
          </p:nvPr>
        </p:nvSpPr>
        <p:spPr/>
        <p:txBody>
          <a:bodyPr/>
          <a:lstStyle/>
          <a:p>
            <a:r>
              <a:rPr lang="en-US" dirty="0"/>
              <a:t>JD Reigrut</a:t>
            </a:r>
          </a:p>
          <a:p>
            <a:r>
              <a:rPr lang="en-US" dirty="0"/>
              <a:t>24 April 2026</a:t>
            </a:r>
          </a:p>
        </p:txBody>
      </p:sp>
    </p:spTree>
    <p:extLst>
      <p:ext uri="{BB962C8B-B14F-4D97-AF65-F5344CB8AC3E}">
        <p14:creationId xmlns:p14="http://schemas.microsoft.com/office/powerpoint/2010/main" val="12279427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ounded Rectangle 7">
            <a:extLst>
              <a:ext uri="{FF2B5EF4-FFF2-40B4-BE49-F238E27FC236}">
                <a16:creationId xmlns:a16="http://schemas.microsoft.com/office/drawing/2014/main" id="{9E49F89F-6F10-78F8-D1B5-C8F1DACE987D}"/>
              </a:ext>
            </a:extLst>
          </p:cNvPr>
          <p:cNvSpPr/>
          <p:nvPr/>
        </p:nvSpPr>
        <p:spPr>
          <a:xfrm>
            <a:off x="1117600" y="4826000"/>
            <a:ext cx="4864100" cy="457200"/>
          </a:xfrm>
          <a:prstGeom prst="roundRect">
            <a:avLst/>
          </a:prstGeom>
          <a:solidFill>
            <a:srgbClr val="1DAFEE">
              <a:alpha val="41961"/>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ounded Rectangle 8">
            <a:extLst>
              <a:ext uri="{FF2B5EF4-FFF2-40B4-BE49-F238E27FC236}">
                <a16:creationId xmlns:a16="http://schemas.microsoft.com/office/drawing/2014/main" id="{516BFB5F-28F7-6A52-7815-5D658D43C4A4}"/>
              </a:ext>
            </a:extLst>
          </p:cNvPr>
          <p:cNvSpPr/>
          <p:nvPr/>
        </p:nvSpPr>
        <p:spPr>
          <a:xfrm>
            <a:off x="7653301" y="1752237"/>
            <a:ext cx="294945" cy="544732"/>
          </a:xfrm>
          <a:prstGeom prst="roundRect">
            <a:avLst/>
          </a:prstGeom>
          <a:solidFill>
            <a:srgbClr val="1DAFEE">
              <a:alpha val="41961"/>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69B76E8-7FD7-E595-DF93-313595CFCA00}"/>
              </a:ext>
            </a:extLst>
          </p:cNvPr>
          <p:cNvSpPr>
            <a:spLocks noGrp="1"/>
          </p:cNvSpPr>
          <p:nvPr>
            <p:ph type="title"/>
          </p:nvPr>
        </p:nvSpPr>
        <p:spPr/>
        <p:txBody>
          <a:bodyPr/>
          <a:lstStyle/>
          <a:p>
            <a:r>
              <a:rPr lang="en-US" dirty="0"/>
              <a:t>Surplus Production Model</a:t>
            </a:r>
          </a:p>
        </p:txBody>
      </p:sp>
      <p:sp>
        <p:nvSpPr>
          <p:cNvPr id="4" name="TextBox 3">
            <a:extLst>
              <a:ext uri="{FF2B5EF4-FFF2-40B4-BE49-F238E27FC236}">
                <a16:creationId xmlns:a16="http://schemas.microsoft.com/office/drawing/2014/main" id="{D2668B79-D3E9-7660-C847-C2F587B8F015}"/>
              </a:ext>
            </a:extLst>
          </p:cNvPr>
          <p:cNvSpPr txBox="1"/>
          <p:nvPr/>
        </p:nvSpPr>
        <p:spPr>
          <a:xfrm>
            <a:off x="3695343" y="1690688"/>
            <a:ext cx="4961615" cy="830997"/>
          </a:xfrm>
          <a:prstGeom prst="rect">
            <a:avLst/>
          </a:prstGeom>
          <a:noFill/>
        </p:spPr>
        <p:txBody>
          <a:bodyPr wrap="none" rtlCol="0">
            <a:spAutoFit/>
          </a:bodyPr>
          <a:lstStyle/>
          <a:p>
            <a:r>
              <a:rPr lang="en-US" sz="3000" i="1" dirty="0">
                <a:latin typeface="Times New Roman" panose="02020603050405020304" pitchFamily="18" charset="0"/>
                <a:cs typeface="Times New Roman" panose="02020603050405020304" pitchFamily="18" charset="0"/>
              </a:rPr>
              <a:t>B</a:t>
            </a:r>
            <a:r>
              <a:rPr lang="en-US" sz="3000" i="1" baseline="-25000" dirty="0">
                <a:latin typeface="Times New Roman" panose="02020603050405020304" pitchFamily="18" charset="0"/>
                <a:cs typeface="Times New Roman" panose="02020603050405020304" pitchFamily="18" charset="0"/>
              </a:rPr>
              <a:t>t+</a:t>
            </a:r>
            <a:r>
              <a:rPr lang="en-US" sz="3000" baseline="-25000" dirty="0">
                <a:latin typeface="Times New Roman" panose="02020603050405020304" pitchFamily="18" charset="0"/>
                <a:cs typeface="Times New Roman" panose="02020603050405020304" pitchFamily="18" charset="0"/>
              </a:rPr>
              <a:t>1 </a:t>
            </a:r>
            <a:r>
              <a:rPr lang="en-US" sz="3000" dirty="0">
                <a:latin typeface="Times New Roman" panose="02020603050405020304" pitchFamily="18" charset="0"/>
                <a:cs typeface="Times New Roman" panose="02020603050405020304" pitchFamily="18" charset="0"/>
              </a:rPr>
              <a:t>= </a:t>
            </a:r>
            <a:r>
              <a:rPr lang="en-US" sz="3000" i="1" dirty="0" err="1">
                <a:latin typeface="Times New Roman" panose="02020603050405020304" pitchFamily="18" charset="0"/>
                <a:cs typeface="Times New Roman" panose="02020603050405020304" pitchFamily="18" charset="0"/>
              </a:rPr>
              <a:t>B</a:t>
            </a:r>
            <a:r>
              <a:rPr lang="en-US" sz="3000" i="1" baseline="-25000" dirty="0" err="1">
                <a:latin typeface="Times New Roman" panose="02020603050405020304" pitchFamily="18" charset="0"/>
                <a:cs typeface="Times New Roman" panose="02020603050405020304" pitchFamily="18" charset="0"/>
              </a:rPr>
              <a:t>t</a:t>
            </a:r>
            <a:r>
              <a:rPr lang="en-US" sz="3000" dirty="0">
                <a:latin typeface="Times New Roman" panose="02020603050405020304" pitchFamily="18" charset="0"/>
                <a:cs typeface="Times New Roman" panose="02020603050405020304" pitchFamily="18" charset="0"/>
              </a:rPr>
              <a:t> + </a:t>
            </a:r>
            <a:r>
              <a:rPr lang="en-US" sz="3000" i="1" dirty="0" err="1">
                <a:latin typeface="Times New Roman" panose="02020603050405020304" pitchFamily="18" charset="0"/>
                <a:cs typeface="Times New Roman" panose="02020603050405020304" pitchFamily="18" charset="0"/>
              </a:rPr>
              <a:t>rB</a:t>
            </a:r>
            <a:r>
              <a:rPr lang="en-US" sz="3000" i="1" baseline="-25000" dirty="0" err="1">
                <a:latin typeface="Times New Roman" panose="02020603050405020304" pitchFamily="18" charset="0"/>
                <a:cs typeface="Times New Roman" panose="02020603050405020304" pitchFamily="18" charset="0"/>
              </a:rPr>
              <a:t>t</a:t>
            </a:r>
            <a:r>
              <a:rPr lang="en-US" sz="3000" dirty="0">
                <a:latin typeface="Times New Roman" panose="02020603050405020304" pitchFamily="18" charset="0"/>
                <a:cs typeface="Times New Roman" panose="02020603050405020304" pitchFamily="18" charset="0"/>
              </a:rPr>
              <a:t>(1-</a:t>
            </a:r>
            <a:r>
              <a:rPr lang="en-US" sz="3000" i="1" dirty="0">
                <a:latin typeface="Times New Roman" panose="02020603050405020304" pitchFamily="18" charset="0"/>
                <a:cs typeface="Times New Roman" panose="02020603050405020304" pitchFamily="18" charset="0"/>
              </a:rPr>
              <a:t>B</a:t>
            </a:r>
            <a:r>
              <a:rPr lang="en-US" sz="3000" i="1" baseline="-25000" dirty="0">
                <a:latin typeface="Times New Roman" panose="02020603050405020304" pitchFamily="18" charset="0"/>
                <a:cs typeface="Times New Roman" panose="02020603050405020304" pitchFamily="18" charset="0"/>
              </a:rPr>
              <a:t>t</a:t>
            </a:r>
            <a:r>
              <a:rPr lang="en-US" sz="3000" baseline="-25000" dirty="0">
                <a:latin typeface="Times New Roman" panose="02020603050405020304" pitchFamily="18" charset="0"/>
                <a:cs typeface="Times New Roman" panose="02020603050405020304" pitchFamily="18" charset="0"/>
              </a:rPr>
              <a:t> </a:t>
            </a:r>
            <a:r>
              <a:rPr lang="en-US" sz="3000" dirty="0">
                <a:latin typeface="Times New Roman" panose="02020603050405020304" pitchFamily="18" charset="0"/>
                <a:cs typeface="Times New Roman" panose="02020603050405020304" pitchFamily="18" charset="0"/>
              </a:rPr>
              <a:t>/ </a:t>
            </a:r>
            <a:r>
              <a:rPr lang="en-US" sz="3000" i="1" dirty="0">
                <a:latin typeface="Times New Roman" panose="02020603050405020304" pitchFamily="18" charset="0"/>
                <a:cs typeface="Times New Roman" panose="02020603050405020304" pitchFamily="18" charset="0"/>
              </a:rPr>
              <a:t>K</a:t>
            </a:r>
            <a:r>
              <a:rPr lang="en-US" sz="3000" dirty="0">
                <a:latin typeface="Times New Roman" panose="02020603050405020304" pitchFamily="18" charset="0"/>
                <a:cs typeface="Times New Roman" panose="02020603050405020304" pitchFamily="18" charset="0"/>
              </a:rPr>
              <a:t>) – </a:t>
            </a:r>
            <a:r>
              <a:rPr lang="en-US" sz="3000" i="1" dirty="0">
                <a:latin typeface="Times New Roman" panose="02020603050405020304" pitchFamily="18" charset="0"/>
                <a:cs typeface="Times New Roman" panose="02020603050405020304" pitchFamily="18" charset="0"/>
              </a:rPr>
              <a:t>q </a:t>
            </a:r>
            <a:r>
              <a:rPr lang="en-US" sz="3000" i="1" dirty="0" err="1">
                <a:latin typeface="Times New Roman" panose="02020603050405020304" pitchFamily="18" charset="0"/>
                <a:cs typeface="Times New Roman" panose="02020603050405020304" pitchFamily="18" charset="0"/>
              </a:rPr>
              <a:t>EB</a:t>
            </a:r>
            <a:r>
              <a:rPr lang="en-US" sz="3000" i="1" baseline="-25000" dirty="0" err="1">
                <a:latin typeface="Times New Roman" panose="02020603050405020304" pitchFamily="18" charset="0"/>
                <a:cs typeface="Times New Roman" panose="02020603050405020304" pitchFamily="18" charset="0"/>
              </a:rPr>
              <a:t>t</a:t>
            </a:r>
            <a:endParaRPr lang="en-US" sz="3000" i="1" dirty="0">
              <a:latin typeface="Times New Roman" panose="02020603050405020304" pitchFamily="18" charset="0"/>
              <a:cs typeface="Times New Roman" panose="02020603050405020304" pitchFamily="18" charset="0"/>
            </a:endParaRPr>
          </a:p>
          <a:p>
            <a:endParaRPr lang="en-US" dirty="0"/>
          </a:p>
        </p:txBody>
      </p:sp>
      <p:sp>
        <p:nvSpPr>
          <p:cNvPr id="6" name="Content Placeholder 5">
            <a:extLst>
              <a:ext uri="{FF2B5EF4-FFF2-40B4-BE49-F238E27FC236}">
                <a16:creationId xmlns:a16="http://schemas.microsoft.com/office/drawing/2014/main" id="{24628626-CB55-B0C0-4B75-267FA83E5BB9}"/>
              </a:ext>
            </a:extLst>
          </p:cNvPr>
          <p:cNvSpPr>
            <a:spLocks noGrp="1"/>
          </p:cNvSpPr>
          <p:nvPr>
            <p:ph idx="1"/>
          </p:nvPr>
        </p:nvSpPr>
        <p:spPr>
          <a:xfrm>
            <a:off x="838200" y="2768601"/>
            <a:ext cx="10515600" cy="3408362"/>
          </a:xfrm>
        </p:spPr>
        <p:txBody>
          <a:bodyPr>
            <a:normAutofit/>
          </a:bodyPr>
          <a:lstStyle/>
          <a:p>
            <a:pPr marL="0" indent="0">
              <a:buNone/>
            </a:pPr>
            <a:r>
              <a:rPr lang="en-US" dirty="0"/>
              <a:t>Where: </a:t>
            </a:r>
          </a:p>
          <a:p>
            <a:r>
              <a:rPr lang="en-US" i="1" dirty="0">
                <a:latin typeface="Times New Roman" panose="02020603050405020304" pitchFamily="18" charset="0"/>
                <a:cs typeface="Times New Roman" panose="02020603050405020304" pitchFamily="18" charset="0"/>
              </a:rPr>
              <a:t>B </a:t>
            </a:r>
            <a:r>
              <a:rPr lang="en-US" dirty="0">
                <a:cs typeface="Times New Roman" panose="02020603050405020304" pitchFamily="18" charset="0"/>
              </a:rPr>
              <a:t>is the stock biomass at time </a:t>
            </a:r>
            <a:r>
              <a:rPr lang="en-US" i="1" dirty="0">
                <a:latin typeface="Times New Roman" panose="02020603050405020304" pitchFamily="18" charset="0"/>
                <a:cs typeface="Times New Roman" panose="02020603050405020304" pitchFamily="18" charset="0"/>
              </a:rPr>
              <a:t>t</a:t>
            </a:r>
          </a:p>
          <a:p>
            <a:r>
              <a:rPr lang="en-US" i="1" dirty="0">
                <a:latin typeface="Times New Roman" panose="02020603050405020304" pitchFamily="18" charset="0"/>
                <a:cs typeface="Times New Roman" panose="02020603050405020304" pitchFamily="18" charset="0"/>
              </a:rPr>
              <a:t>r</a:t>
            </a:r>
            <a:r>
              <a:rPr lang="en-US" dirty="0">
                <a:cs typeface="Times New Roman" panose="02020603050405020304" pitchFamily="18" charset="0"/>
              </a:rPr>
              <a:t> is the intrinsic growth rate</a:t>
            </a:r>
          </a:p>
          <a:p>
            <a:r>
              <a:rPr lang="en-US" i="1" dirty="0">
                <a:latin typeface="Times New Roman" panose="02020603050405020304" pitchFamily="18" charset="0"/>
                <a:cs typeface="Times New Roman" panose="02020603050405020304" pitchFamily="18" charset="0"/>
              </a:rPr>
              <a:t>K</a:t>
            </a:r>
            <a:r>
              <a:rPr lang="en-US" dirty="0">
                <a:cs typeface="Times New Roman" panose="02020603050405020304" pitchFamily="18" charset="0"/>
              </a:rPr>
              <a:t> is the environmental carrying capacity </a:t>
            </a:r>
          </a:p>
          <a:p>
            <a:r>
              <a:rPr lang="en-US" i="1" dirty="0">
                <a:latin typeface="Times New Roman" panose="02020603050405020304" pitchFamily="18" charset="0"/>
                <a:cs typeface="Times New Roman" panose="02020603050405020304" pitchFamily="18" charset="0"/>
              </a:rPr>
              <a:t>q</a:t>
            </a:r>
            <a:r>
              <a:rPr lang="en-US" dirty="0"/>
              <a:t> is the catchability coefficient </a:t>
            </a:r>
          </a:p>
          <a:p>
            <a:r>
              <a:rPr lang="en-US" i="1" dirty="0">
                <a:latin typeface="Times New Roman" panose="02020603050405020304" pitchFamily="18" charset="0"/>
                <a:cs typeface="Times New Roman" panose="02020603050405020304" pitchFamily="18" charset="0"/>
              </a:rPr>
              <a:t>E</a:t>
            </a:r>
            <a:r>
              <a:rPr lang="en-US" dirty="0"/>
              <a:t> is fishing effort</a:t>
            </a:r>
          </a:p>
        </p:txBody>
      </p:sp>
    </p:spTree>
    <p:extLst>
      <p:ext uri="{BB962C8B-B14F-4D97-AF65-F5344CB8AC3E}">
        <p14:creationId xmlns:p14="http://schemas.microsoft.com/office/powerpoint/2010/main" val="6596059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2A95C9-E5DF-25B5-3FD9-7F6F73EFAC73}"/>
              </a:ext>
            </a:extLst>
          </p:cNvPr>
          <p:cNvSpPr>
            <a:spLocks noGrp="1"/>
          </p:cNvSpPr>
          <p:nvPr>
            <p:ph type="title"/>
          </p:nvPr>
        </p:nvSpPr>
        <p:spPr/>
        <p:txBody>
          <a:bodyPr/>
          <a:lstStyle/>
          <a:p>
            <a:r>
              <a:rPr lang="en-US" dirty="0"/>
              <a:t>Research Questions</a:t>
            </a:r>
          </a:p>
        </p:txBody>
      </p:sp>
      <p:sp>
        <p:nvSpPr>
          <p:cNvPr id="4" name="Rounded Rectangle 3">
            <a:extLst>
              <a:ext uri="{FF2B5EF4-FFF2-40B4-BE49-F238E27FC236}">
                <a16:creationId xmlns:a16="http://schemas.microsoft.com/office/drawing/2014/main" id="{1AB7BE7D-3889-92B3-B460-1CA3AD50E6BD}"/>
              </a:ext>
            </a:extLst>
          </p:cNvPr>
          <p:cNvSpPr/>
          <p:nvPr/>
        </p:nvSpPr>
        <p:spPr>
          <a:xfrm>
            <a:off x="692728" y="1649558"/>
            <a:ext cx="5209309" cy="2400300"/>
          </a:xfrm>
          <a:prstGeom prst="roundRect">
            <a:avLst/>
          </a:prstGeom>
          <a:solidFill>
            <a:srgbClr val="1DAFEE">
              <a:alpha val="3490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How does adaptive fisher behavior bias posterior estimates of MSY in a Bayesian surplus production model that assumes constant catchability?</a:t>
            </a:r>
          </a:p>
        </p:txBody>
      </p:sp>
      <p:sp>
        <p:nvSpPr>
          <p:cNvPr id="5" name="Rounded Rectangle 4">
            <a:extLst>
              <a:ext uri="{FF2B5EF4-FFF2-40B4-BE49-F238E27FC236}">
                <a16:creationId xmlns:a16="http://schemas.microsoft.com/office/drawing/2014/main" id="{56CD19FA-1CEE-AA84-789C-DB43F34A3129}"/>
              </a:ext>
            </a:extLst>
          </p:cNvPr>
          <p:cNvSpPr/>
          <p:nvPr/>
        </p:nvSpPr>
        <p:spPr>
          <a:xfrm>
            <a:off x="692728" y="4369376"/>
            <a:ext cx="5209308" cy="1600200"/>
          </a:xfrm>
          <a:prstGeom prst="roundRect">
            <a:avLst/>
          </a:prstGeom>
          <a:solidFill>
            <a:srgbClr val="1DAFEE">
              <a:alpha val="3490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How does this misspecification affect posterior uncertainty, including CI width?</a:t>
            </a:r>
          </a:p>
        </p:txBody>
      </p:sp>
      <p:sp>
        <p:nvSpPr>
          <p:cNvPr id="6" name="Rounded Rectangle 5">
            <a:extLst>
              <a:ext uri="{FF2B5EF4-FFF2-40B4-BE49-F238E27FC236}">
                <a16:creationId xmlns:a16="http://schemas.microsoft.com/office/drawing/2014/main" id="{88F23071-342C-A2A0-3347-DAEB9174BAA9}"/>
              </a:ext>
            </a:extLst>
          </p:cNvPr>
          <p:cNvSpPr/>
          <p:nvPr/>
        </p:nvSpPr>
        <p:spPr>
          <a:xfrm>
            <a:off x="6289965" y="1690688"/>
            <a:ext cx="5514108" cy="1600200"/>
          </a:xfrm>
          <a:prstGeom prst="roundRect">
            <a:avLst/>
          </a:prstGeom>
          <a:solidFill>
            <a:srgbClr val="1DAFEE">
              <a:alpha val="3490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To what extent can informative priors mitigate bias arising from </a:t>
            </a:r>
            <a:r>
              <a:rPr lang="en-US" sz="2400" dirty="0" err="1">
                <a:solidFill>
                  <a:schemeClr val="tx1"/>
                </a:solidFill>
              </a:rPr>
              <a:t>misspecified</a:t>
            </a:r>
            <a:r>
              <a:rPr lang="en-US" sz="2400" dirty="0">
                <a:solidFill>
                  <a:schemeClr val="tx1"/>
                </a:solidFill>
              </a:rPr>
              <a:t> catchability?</a:t>
            </a:r>
          </a:p>
        </p:txBody>
      </p:sp>
      <p:sp>
        <p:nvSpPr>
          <p:cNvPr id="7" name="Rounded Rectangle 6">
            <a:extLst>
              <a:ext uri="{FF2B5EF4-FFF2-40B4-BE49-F238E27FC236}">
                <a16:creationId xmlns:a16="http://schemas.microsoft.com/office/drawing/2014/main" id="{A678C357-77E2-FF46-5281-4EE019D1071C}"/>
              </a:ext>
            </a:extLst>
          </p:cNvPr>
          <p:cNvSpPr/>
          <p:nvPr/>
        </p:nvSpPr>
        <p:spPr>
          <a:xfrm>
            <a:off x="6289965" y="3569276"/>
            <a:ext cx="5514109" cy="2400300"/>
          </a:xfrm>
          <a:prstGeom prst="roundRect">
            <a:avLst/>
          </a:prstGeom>
          <a:solidFill>
            <a:srgbClr val="1DAFEE">
              <a:alpha val="3490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Do Bayesian models that allow for flexible or time-varying catchability better recover true MSY under adaptive fishing behavior?</a:t>
            </a:r>
          </a:p>
        </p:txBody>
      </p:sp>
    </p:spTree>
    <p:extLst>
      <p:ext uri="{BB962C8B-B14F-4D97-AF65-F5344CB8AC3E}">
        <p14:creationId xmlns:p14="http://schemas.microsoft.com/office/powerpoint/2010/main" val="787104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gsa2">
            <a:hlinkClick r:id="" action="ppaction://media"/>
            <a:extLst>
              <a:ext uri="{FF2B5EF4-FFF2-40B4-BE49-F238E27FC236}">
                <a16:creationId xmlns:a16="http://schemas.microsoft.com/office/drawing/2014/main" id="{506819AA-FF87-D1B7-66F3-991B3F7EC09E}"/>
              </a:ext>
            </a:extLst>
          </p:cNvPr>
          <p:cNvPicPr>
            <a:picLocks noGrp="1" noChangeAspect="1"/>
          </p:cNvPicPr>
          <p:nvPr>
            <p:ph idx="1"/>
            <a:videoFile r:link="rId2"/>
            <p:extLst>
              <p:ext uri="{DAA4B4D4-6D71-4841-9C94-3DE7FCFB9230}">
                <p14:media xmlns:p14="http://schemas.microsoft.com/office/powerpoint/2010/main" r:embed="rId1"/>
              </p:ext>
            </p:extLst>
          </p:nvPr>
        </p:nvPicPr>
        <p:blipFill>
          <a:blip r:embed="rId5"/>
          <a:stretch>
            <a:fillRect/>
          </a:stretch>
        </p:blipFill>
        <p:spPr>
          <a:xfrm>
            <a:off x="1134198" y="1835092"/>
            <a:ext cx="4187825" cy="4351338"/>
          </a:xfrm>
        </p:spPr>
      </p:pic>
      <p:sp>
        <p:nvSpPr>
          <p:cNvPr id="8" name="Title 1">
            <a:extLst>
              <a:ext uri="{FF2B5EF4-FFF2-40B4-BE49-F238E27FC236}">
                <a16:creationId xmlns:a16="http://schemas.microsoft.com/office/drawing/2014/main" id="{60F3DED9-ADC7-A939-AF19-62EF02BC5615}"/>
              </a:ext>
            </a:extLst>
          </p:cNvPr>
          <p:cNvSpPr>
            <a:spLocks noGrp="1"/>
          </p:cNvSpPr>
          <p:nvPr>
            <p:ph type="title"/>
          </p:nvPr>
        </p:nvSpPr>
        <p:spPr>
          <a:xfrm>
            <a:off x="838200" y="365125"/>
            <a:ext cx="10515600" cy="1325563"/>
          </a:xfrm>
        </p:spPr>
        <p:txBody>
          <a:bodyPr/>
          <a:lstStyle/>
          <a:p>
            <a:r>
              <a:rPr lang="en-US" dirty="0"/>
              <a:t>POSEIDON – Fisheries Agent-Based Model</a:t>
            </a:r>
          </a:p>
        </p:txBody>
      </p:sp>
      <p:sp>
        <p:nvSpPr>
          <p:cNvPr id="9" name="TextBox 8">
            <a:extLst>
              <a:ext uri="{FF2B5EF4-FFF2-40B4-BE49-F238E27FC236}">
                <a16:creationId xmlns:a16="http://schemas.microsoft.com/office/drawing/2014/main" id="{4ADBCDA6-162C-1956-79FB-285C6C95D812}"/>
              </a:ext>
            </a:extLst>
          </p:cNvPr>
          <p:cNvSpPr txBox="1"/>
          <p:nvPr/>
        </p:nvSpPr>
        <p:spPr>
          <a:xfrm>
            <a:off x="5929745" y="1522308"/>
            <a:ext cx="5720053" cy="1754326"/>
          </a:xfrm>
          <a:prstGeom prst="rect">
            <a:avLst/>
          </a:prstGeom>
          <a:noFill/>
        </p:spPr>
        <p:txBody>
          <a:bodyPr wrap="square" rtlCol="0">
            <a:spAutoFit/>
          </a:bodyPr>
          <a:lstStyle/>
          <a:p>
            <a:r>
              <a:rPr lang="en-US" dirty="0"/>
              <a:t>Constants:</a:t>
            </a:r>
          </a:p>
          <a:p>
            <a:r>
              <a:rPr lang="en-US" dirty="0"/>
              <a:t>K = 3000 fish/cell or approx. 6,375,000 fish in the system</a:t>
            </a:r>
          </a:p>
          <a:p>
            <a:r>
              <a:rPr lang="en-US" dirty="0"/>
              <a:t>r = 0.35</a:t>
            </a:r>
          </a:p>
          <a:p>
            <a:r>
              <a:rPr lang="en-US" dirty="0"/>
              <a:t>q = 0.002</a:t>
            </a:r>
          </a:p>
          <a:p>
            <a:endParaRPr lang="en-US" dirty="0"/>
          </a:p>
          <a:p>
            <a:r>
              <a:rPr lang="en-US" b="1" dirty="0"/>
              <a:t>True MSY = 557,812</a:t>
            </a:r>
          </a:p>
        </p:txBody>
      </p:sp>
      <p:sp>
        <p:nvSpPr>
          <p:cNvPr id="10" name="Rounded Rectangle 9">
            <a:extLst>
              <a:ext uri="{FF2B5EF4-FFF2-40B4-BE49-F238E27FC236}">
                <a16:creationId xmlns:a16="http://schemas.microsoft.com/office/drawing/2014/main" id="{A25771EF-E5D7-324F-A811-3CEF235C3C42}"/>
              </a:ext>
            </a:extLst>
          </p:cNvPr>
          <p:cNvSpPr/>
          <p:nvPr/>
        </p:nvSpPr>
        <p:spPr>
          <a:xfrm>
            <a:off x="6032715" y="3398418"/>
            <a:ext cx="5514109" cy="1224687"/>
          </a:xfrm>
          <a:prstGeom prst="roundRect">
            <a:avLst/>
          </a:prstGeom>
          <a:solidFill>
            <a:srgbClr val="1DAFEE">
              <a:alpha val="3490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Aft>
                <a:spcPts val="600"/>
              </a:spcAft>
            </a:pPr>
            <a:r>
              <a:rPr lang="en-US" b="1" dirty="0" err="1">
                <a:solidFill>
                  <a:schemeClr val="tx1"/>
                </a:solidFill>
              </a:rPr>
              <a:t>Scenerio</a:t>
            </a:r>
            <a:r>
              <a:rPr lang="en-US" b="1" dirty="0">
                <a:solidFill>
                  <a:schemeClr val="tx1"/>
                </a:solidFill>
              </a:rPr>
              <a:t> A (Fixed Behavior)</a:t>
            </a:r>
          </a:p>
          <a:p>
            <a:pPr algn="ctr"/>
            <a:r>
              <a:rPr lang="en-US" dirty="0">
                <a:solidFill>
                  <a:schemeClr val="tx1"/>
                </a:solidFill>
              </a:rPr>
              <a:t>Exploration probability = 0.95 (high)</a:t>
            </a:r>
          </a:p>
          <a:p>
            <a:pPr algn="ctr"/>
            <a:r>
              <a:rPr lang="en-US" dirty="0">
                <a:solidFill>
                  <a:schemeClr val="tx1"/>
                </a:solidFill>
              </a:rPr>
              <a:t>Imitation probability = 0.0 (no imitation</a:t>
            </a:r>
            <a:r>
              <a:rPr lang="en-US" sz="2400" dirty="0">
                <a:solidFill>
                  <a:schemeClr val="tx1"/>
                </a:solidFill>
              </a:rPr>
              <a:t>)</a:t>
            </a:r>
          </a:p>
        </p:txBody>
      </p:sp>
      <p:sp>
        <p:nvSpPr>
          <p:cNvPr id="11" name="Rounded Rectangle 10">
            <a:extLst>
              <a:ext uri="{FF2B5EF4-FFF2-40B4-BE49-F238E27FC236}">
                <a16:creationId xmlns:a16="http://schemas.microsoft.com/office/drawing/2014/main" id="{131F36DB-005F-488A-1C71-77181C2829E1}"/>
              </a:ext>
            </a:extLst>
          </p:cNvPr>
          <p:cNvSpPr/>
          <p:nvPr/>
        </p:nvSpPr>
        <p:spPr>
          <a:xfrm>
            <a:off x="6032715" y="4744889"/>
            <a:ext cx="5514109" cy="1747985"/>
          </a:xfrm>
          <a:prstGeom prst="roundRect">
            <a:avLst/>
          </a:prstGeom>
          <a:solidFill>
            <a:srgbClr val="1DAFEE">
              <a:alpha val="3490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Aft>
                <a:spcPts val="600"/>
              </a:spcAft>
            </a:pPr>
            <a:r>
              <a:rPr lang="en-US" b="1" dirty="0" err="1">
                <a:solidFill>
                  <a:schemeClr val="tx1"/>
                </a:solidFill>
              </a:rPr>
              <a:t>Scenerio</a:t>
            </a:r>
            <a:r>
              <a:rPr lang="en-US" b="1" dirty="0">
                <a:solidFill>
                  <a:schemeClr val="tx1"/>
                </a:solidFill>
              </a:rPr>
              <a:t> B (Adaptive Behavior)</a:t>
            </a:r>
          </a:p>
          <a:p>
            <a:pPr algn="ctr"/>
            <a:r>
              <a:rPr lang="en-US" dirty="0">
                <a:solidFill>
                  <a:schemeClr val="tx1"/>
                </a:solidFill>
              </a:rPr>
              <a:t>Exploration probability = 0.05 (low random exploration),   Min = 0.01</a:t>
            </a:r>
          </a:p>
          <a:p>
            <a:pPr algn="ctr"/>
            <a:r>
              <a:rPr lang="en-US" dirty="0">
                <a:solidFill>
                  <a:schemeClr val="tx1"/>
                </a:solidFill>
              </a:rPr>
              <a:t>Imitation probability = 1.0 (high social imitation)</a:t>
            </a:r>
          </a:p>
          <a:p>
            <a:pPr algn="ctr"/>
            <a:r>
              <a:rPr lang="en-US" dirty="0">
                <a:solidFill>
                  <a:schemeClr val="tx1"/>
                </a:solidFill>
              </a:rPr>
              <a:t>  Increment multiplier= 0.03 (learning speed)</a:t>
            </a:r>
            <a:endParaRPr lang="en-US" sz="2400" dirty="0">
              <a:solidFill>
                <a:schemeClr val="tx1"/>
              </a:solidFill>
            </a:endParaRPr>
          </a:p>
        </p:txBody>
      </p:sp>
    </p:spTree>
    <p:extLst>
      <p:ext uri="{BB962C8B-B14F-4D97-AF65-F5344CB8AC3E}">
        <p14:creationId xmlns:p14="http://schemas.microsoft.com/office/powerpoint/2010/main" val="4949589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9334" fill="hold"/>
                                        <p:tgtEl>
                                          <p:spTgt spid="7"/>
                                        </p:tgtEl>
                                      </p:cBhvr>
                                    </p:cmd>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5" fill="hold" display="0">
                  <p:stCondLst>
                    <p:cond delay="indefinite"/>
                  </p:stCondLst>
                </p:cTn>
                <p:tgtEl>
                  <p:spTgt spid="7"/>
                </p:tgtEl>
              </p:cMediaNode>
            </p:video>
            <p:seq concurrent="1" nextAc="seek">
              <p:cTn id="16" restart="whenNotActive" fill="hold" evtFilter="cancelBubble" nodeType="interactiveSeq">
                <p:stCondLst>
                  <p:cond evt="onClick" delay="0">
                    <p:tgtEl>
                      <p:spTgt spid="7"/>
                    </p:tgtEl>
                  </p:cond>
                </p:stCondLst>
                <p:endSync evt="end" delay="0">
                  <p:rtn val="all"/>
                </p:endSync>
                <p:childTnLst>
                  <p:par>
                    <p:cTn id="17" fill="hold">
                      <p:stCondLst>
                        <p:cond delay="0"/>
                      </p:stCondLst>
                      <p:childTnLst>
                        <p:par>
                          <p:cTn id="18" fill="hold">
                            <p:stCondLst>
                              <p:cond delay="0"/>
                            </p:stCondLst>
                            <p:childTnLst>
                              <p:par>
                                <p:cTn id="19" presetID="2" presetClass="mediacall" presetSubtype="0" fill="hold" nodeType="clickEffect">
                                  <p:stCondLst>
                                    <p:cond delay="0"/>
                                  </p:stCondLst>
                                  <p:childTnLst>
                                    <p:cmd type="call" cmd="togglePause">
                                      <p:cBhvr>
                                        <p:cTn id="20" dur="1" fill="hold"/>
                                        <p:tgtEl>
                                          <p:spTgt spid="7"/>
                                        </p:tgtEl>
                                      </p:cBhvr>
                                    </p:cmd>
                                  </p:childTnLst>
                                </p:cTn>
                              </p:par>
                            </p:childTnLst>
                          </p:cTn>
                        </p:par>
                      </p:childTnLst>
                    </p:cTn>
                  </p:par>
                </p:childTnLst>
              </p:cTn>
              <p:nextCondLst>
                <p:cond evt="onClick" delay="0">
                  <p:tgtEl>
                    <p:spTgt spid="7"/>
                  </p:tgtEl>
                </p:cond>
              </p:nextCondLst>
            </p:seq>
          </p:childTnLst>
        </p:cTn>
      </p:par>
    </p:tnLst>
    <p:bldLst>
      <p:bldP spid="10" grpId="0" animBg="1"/>
      <p:bldP spid="11"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1079C922-C5D9-23CC-13DB-348DD77E1026}"/>
              </a:ext>
            </a:extLst>
          </p:cNvPr>
          <p:cNvPicPr>
            <a:picLocks noGrp="1" noChangeAspect="1"/>
          </p:cNvPicPr>
          <p:nvPr>
            <p:ph idx="1"/>
          </p:nvPr>
        </p:nvPicPr>
        <p:blipFill>
          <a:blip r:embed="rId3"/>
          <a:stretch>
            <a:fillRect/>
          </a:stretch>
        </p:blipFill>
        <p:spPr>
          <a:xfrm>
            <a:off x="208139" y="1898970"/>
            <a:ext cx="3218365" cy="4351338"/>
          </a:xfrm>
          <a:prstGeom prst="rect">
            <a:avLst/>
          </a:prstGeom>
        </p:spPr>
      </p:pic>
      <p:pic>
        <p:nvPicPr>
          <p:cNvPr id="7" name="Picture 6">
            <a:extLst>
              <a:ext uri="{FF2B5EF4-FFF2-40B4-BE49-F238E27FC236}">
                <a16:creationId xmlns:a16="http://schemas.microsoft.com/office/drawing/2014/main" id="{5C8328CF-0540-1F1A-B337-A36A590EAA72}"/>
              </a:ext>
            </a:extLst>
          </p:cNvPr>
          <p:cNvPicPr>
            <a:picLocks noChangeAspect="1"/>
          </p:cNvPicPr>
          <p:nvPr/>
        </p:nvPicPr>
        <p:blipFill>
          <a:blip r:embed="rId4"/>
          <a:stretch>
            <a:fillRect/>
          </a:stretch>
        </p:blipFill>
        <p:spPr>
          <a:xfrm>
            <a:off x="3426504" y="1898970"/>
            <a:ext cx="3382376" cy="4464339"/>
          </a:xfrm>
          <a:prstGeom prst="rect">
            <a:avLst/>
          </a:prstGeom>
        </p:spPr>
      </p:pic>
      <p:pic>
        <p:nvPicPr>
          <p:cNvPr id="11" name="Picture 10">
            <a:extLst>
              <a:ext uri="{FF2B5EF4-FFF2-40B4-BE49-F238E27FC236}">
                <a16:creationId xmlns:a16="http://schemas.microsoft.com/office/drawing/2014/main" id="{4DAEF573-2D58-4044-7C4D-27B20C0CCAC2}"/>
              </a:ext>
            </a:extLst>
          </p:cNvPr>
          <p:cNvPicPr>
            <a:picLocks noChangeAspect="1"/>
          </p:cNvPicPr>
          <p:nvPr/>
        </p:nvPicPr>
        <p:blipFill>
          <a:blip r:embed="rId5"/>
          <a:srcRect t="2028"/>
          <a:stretch>
            <a:fillRect/>
          </a:stretch>
        </p:blipFill>
        <p:spPr>
          <a:xfrm>
            <a:off x="6808880" y="2047478"/>
            <a:ext cx="5149957" cy="4054321"/>
          </a:xfrm>
          <a:prstGeom prst="rect">
            <a:avLst/>
          </a:prstGeom>
        </p:spPr>
      </p:pic>
      <p:sp>
        <p:nvSpPr>
          <p:cNvPr id="12" name="Title 1">
            <a:extLst>
              <a:ext uri="{FF2B5EF4-FFF2-40B4-BE49-F238E27FC236}">
                <a16:creationId xmlns:a16="http://schemas.microsoft.com/office/drawing/2014/main" id="{5E025EF6-83DF-44A0-CD6A-FCEB52487A43}"/>
              </a:ext>
            </a:extLst>
          </p:cNvPr>
          <p:cNvSpPr>
            <a:spLocks noGrp="1"/>
          </p:cNvSpPr>
          <p:nvPr>
            <p:ph type="title"/>
          </p:nvPr>
        </p:nvSpPr>
        <p:spPr>
          <a:xfrm>
            <a:off x="838200" y="365125"/>
            <a:ext cx="10515600" cy="1325563"/>
          </a:xfrm>
        </p:spPr>
        <p:txBody>
          <a:bodyPr/>
          <a:lstStyle/>
          <a:p>
            <a:r>
              <a:rPr lang="en-US" dirty="0"/>
              <a:t>Simulated Data Trends</a:t>
            </a:r>
          </a:p>
        </p:txBody>
      </p:sp>
    </p:spTree>
    <p:extLst>
      <p:ext uri="{BB962C8B-B14F-4D97-AF65-F5344CB8AC3E}">
        <p14:creationId xmlns:p14="http://schemas.microsoft.com/office/powerpoint/2010/main" val="19766084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E56F90-1D6A-F32D-5FC2-5E1FF39DE967}"/>
              </a:ext>
            </a:extLst>
          </p:cNvPr>
          <p:cNvSpPr>
            <a:spLocks noGrp="1"/>
          </p:cNvSpPr>
          <p:nvPr>
            <p:ph type="title"/>
          </p:nvPr>
        </p:nvSpPr>
        <p:spPr/>
        <p:txBody>
          <a:bodyPr/>
          <a:lstStyle/>
          <a:p>
            <a:r>
              <a:rPr lang="en-US" dirty="0"/>
              <a:t>Model 1: Standard Surplus Production</a:t>
            </a:r>
          </a:p>
        </p:txBody>
      </p:sp>
      <p:pic>
        <p:nvPicPr>
          <p:cNvPr id="7" name="Picture 6">
            <a:extLst>
              <a:ext uri="{FF2B5EF4-FFF2-40B4-BE49-F238E27FC236}">
                <a16:creationId xmlns:a16="http://schemas.microsoft.com/office/drawing/2014/main" id="{1284332E-8080-AA43-5928-47CA34FAD193}"/>
              </a:ext>
            </a:extLst>
          </p:cNvPr>
          <p:cNvPicPr>
            <a:picLocks noChangeAspect="1"/>
          </p:cNvPicPr>
          <p:nvPr/>
        </p:nvPicPr>
        <p:blipFill>
          <a:blip r:embed="rId3"/>
          <a:stretch>
            <a:fillRect/>
          </a:stretch>
        </p:blipFill>
        <p:spPr>
          <a:xfrm>
            <a:off x="8861795" y="2192033"/>
            <a:ext cx="2396837" cy="1811782"/>
          </a:xfrm>
          <a:prstGeom prst="rect">
            <a:avLst/>
          </a:prstGeom>
        </p:spPr>
      </p:pic>
      <p:pic>
        <p:nvPicPr>
          <p:cNvPr id="9" name="Picture 8">
            <a:extLst>
              <a:ext uri="{FF2B5EF4-FFF2-40B4-BE49-F238E27FC236}">
                <a16:creationId xmlns:a16="http://schemas.microsoft.com/office/drawing/2014/main" id="{94A3A2A3-3C45-FD9E-1771-849712CC6305}"/>
              </a:ext>
            </a:extLst>
          </p:cNvPr>
          <p:cNvPicPr>
            <a:picLocks noChangeAspect="1"/>
          </p:cNvPicPr>
          <p:nvPr/>
        </p:nvPicPr>
        <p:blipFill>
          <a:blip r:embed="rId4"/>
          <a:stretch>
            <a:fillRect/>
          </a:stretch>
        </p:blipFill>
        <p:spPr>
          <a:xfrm>
            <a:off x="5857535" y="2131088"/>
            <a:ext cx="2549236" cy="1933672"/>
          </a:xfrm>
          <a:prstGeom prst="rect">
            <a:avLst/>
          </a:prstGeom>
        </p:spPr>
      </p:pic>
      <p:pic>
        <p:nvPicPr>
          <p:cNvPr id="11" name="Picture 10">
            <a:extLst>
              <a:ext uri="{FF2B5EF4-FFF2-40B4-BE49-F238E27FC236}">
                <a16:creationId xmlns:a16="http://schemas.microsoft.com/office/drawing/2014/main" id="{B5B4D642-E157-BE80-E560-C2D6F3280C6F}"/>
              </a:ext>
            </a:extLst>
          </p:cNvPr>
          <p:cNvPicPr>
            <a:picLocks noChangeAspect="1"/>
          </p:cNvPicPr>
          <p:nvPr/>
        </p:nvPicPr>
        <p:blipFill>
          <a:blip r:embed="rId5"/>
          <a:stretch>
            <a:fillRect/>
          </a:stretch>
        </p:blipFill>
        <p:spPr>
          <a:xfrm>
            <a:off x="321529" y="2317633"/>
            <a:ext cx="4753605" cy="3494254"/>
          </a:xfrm>
          <a:prstGeom prst="rect">
            <a:avLst/>
          </a:prstGeom>
        </p:spPr>
      </p:pic>
      <p:pic>
        <p:nvPicPr>
          <p:cNvPr id="19" name="Picture 18">
            <a:extLst>
              <a:ext uri="{FF2B5EF4-FFF2-40B4-BE49-F238E27FC236}">
                <a16:creationId xmlns:a16="http://schemas.microsoft.com/office/drawing/2014/main" id="{A8ACBD93-D9A6-3CD1-0695-C197A4054BE9}"/>
              </a:ext>
            </a:extLst>
          </p:cNvPr>
          <p:cNvPicPr>
            <a:picLocks noChangeAspect="1"/>
          </p:cNvPicPr>
          <p:nvPr/>
        </p:nvPicPr>
        <p:blipFill>
          <a:blip r:embed="rId6"/>
          <a:stretch>
            <a:fillRect/>
          </a:stretch>
        </p:blipFill>
        <p:spPr>
          <a:xfrm>
            <a:off x="5322595" y="4305003"/>
            <a:ext cx="3084176" cy="1637615"/>
          </a:xfrm>
          <a:prstGeom prst="rect">
            <a:avLst/>
          </a:prstGeom>
        </p:spPr>
      </p:pic>
      <p:pic>
        <p:nvPicPr>
          <p:cNvPr id="21" name="Picture 20">
            <a:extLst>
              <a:ext uri="{FF2B5EF4-FFF2-40B4-BE49-F238E27FC236}">
                <a16:creationId xmlns:a16="http://schemas.microsoft.com/office/drawing/2014/main" id="{5A8B03E0-C7DD-9912-5334-5EE9112D6EE0}"/>
              </a:ext>
            </a:extLst>
          </p:cNvPr>
          <p:cNvPicPr>
            <a:picLocks noChangeAspect="1"/>
          </p:cNvPicPr>
          <p:nvPr/>
        </p:nvPicPr>
        <p:blipFill>
          <a:blip r:embed="rId7"/>
          <a:stretch>
            <a:fillRect/>
          </a:stretch>
        </p:blipFill>
        <p:spPr>
          <a:xfrm>
            <a:off x="8688682" y="4305003"/>
            <a:ext cx="3103813" cy="1771052"/>
          </a:xfrm>
          <a:prstGeom prst="rect">
            <a:avLst/>
          </a:prstGeom>
        </p:spPr>
      </p:pic>
    </p:spTree>
    <p:extLst>
      <p:ext uri="{BB962C8B-B14F-4D97-AF65-F5344CB8AC3E}">
        <p14:creationId xmlns:p14="http://schemas.microsoft.com/office/powerpoint/2010/main" val="29603826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A30ACD-95D3-D7BC-90AA-08172B7FAF57}"/>
              </a:ext>
            </a:extLst>
          </p:cNvPr>
          <p:cNvSpPr>
            <a:spLocks noGrp="1"/>
          </p:cNvSpPr>
          <p:nvPr>
            <p:ph type="title"/>
          </p:nvPr>
        </p:nvSpPr>
        <p:spPr/>
        <p:txBody>
          <a:bodyPr/>
          <a:lstStyle/>
          <a:p>
            <a:r>
              <a:rPr lang="en-US" dirty="0"/>
              <a:t>Model 2: </a:t>
            </a:r>
            <a:r>
              <a:rPr lang="en-US" sz="3800" dirty="0"/>
              <a:t>Surplus Production with Informative Priors</a:t>
            </a:r>
          </a:p>
        </p:txBody>
      </p:sp>
      <p:pic>
        <p:nvPicPr>
          <p:cNvPr id="5" name="Picture 4">
            <a:extLst>
              <a:ext uri="{FF2B5EF4-FFF2-40B4-BE49-F238E27FC236}">
                <a16:creationId xmlns:a16="http://schemas.microsoft.com/office/drawing/2014/main" id="{ED107582-AA73-E941-FDE5-4F0A64C48F1E}"/>
              </a:ext>
            </a:extLst>
          </p:cNvPr>
          <p:cNvPicPr>
            <a:picLocks noChangeAspect="1"/>
          </p:cNvPicPr>
          <p:nvPr/>
        </p:nvPicPr>
        <p:blipFill>
          <a:blip r:embed="rId3"/>
          <a:stretch>
            <a:fillRect/>
          </a:stretch>
        </p:blipFill>
        <p:spPr>
          <a:xfrm>
            <a:off x="194294" y="2164785"/>
            <a:ext cx="5500064" cy="3753290"/>
          </a:xfrm>
          <a:prstGeom prst="rect">
            <a:avLst/>
          </a:prstGeom>
        </p:spPr>
      </p:pic>
      <p:pic>
        <p:nvPicPr>
          <p:cNvPr id="7" name="Picture 6">
            <a:extLst>
              <a:ext uri="{FF2B5EF4-FFF2-40B4-BE49-F238E27FC236}">
                <a16:creationId xmlns:a16="http://schemas.microsoft.com/office/drawing/2014/main" id="{4BA27DDB-4548-A11F-55D3-4A1888E8687B}"/>
              </a:ext>
            </a:extLst>
          </p:cNvPr>
          <p:cNvPicPr>
            <a:picLocks noChangeAspect="1"/>
          </p:cNvPicPr>
          <p:nvPr/>
        </p:nvPicPr>
        <p:blipFill>
          <a:blip r:embed="rId4"/>
          <a:stretch>
            <a:fillRect/>
          </a:stretch>
        </p:blipFill>
        <p:spPr>
          <a:xfrm>
            <a:off x="6351578" y="2164785"/>
            <a:ext cx="2377955" cy="1898394"/>
          </a:xfrm>
          <a:prstGeom prst="rect">
            <a:avLst/>
          </a:prstGeom>
        </p:spPr>
      </p:pic>
      <p:pic>
        <p:nvPicPr>
          <p:cNvPr id="9" name="Picture 8">
            <a:extLst>
              <a:ext uri="{FF2B5EF4-FFF2-40B4-BE49-F238E27FC236}">
                <a16:creationId xmlns:a16="http://schemas.microsoft.com/office/drawing/2014/main" id="{3F819E7A-74FA-B179-1A2E-2A5370C4F6EB}"/>
              </a:ext>
            </a:extLst>
          </p:cNvPr>
          <p:cNvPicPr>
            <a:picLocks noChangeAspect="1"/>
          </p:cNvPicPr>
          <p:nvPr/>
        </p:nvPicPr>
        <p:blipFill>
          <a:blip r:embed="rId5"/>
          <a:stretch>
            <a:fillRect/>
          </a:stretch>
        </p:blipFill>
        <p:spPr>
          <a:xfrm>
            <a:off x="9386753" y="2266994"/>
            <a:ext cx="2246807" cy="1796185"/>
          </a:xfrm>
          <a:prstGeom prst="rect">
            <a:avLst/>
          </a:prstGeom>
        </p:spPr>
      </p:pic>
      <p:pic>
        <p:nvPicPr>
          <p:cNvPr id="11" name="Picture 10">
            <a:extLst>
              <a:ext uri="{FF2B5EF4-FFF2-40B4-BE49-F238E27FC236}">
                <a16:creationId xmlns:a16="http://schemas.microsoft.com/office/drawing/2014/main" id="{A32E7609-6379-D5F3-E592-D5C9896B2D2A}"/>
              </a:ext>
            </a:extLst>
          </p:cNvPr>
          <p:cNvPicPr>
            <a:picLocks noChangeAspect="1"/>
          </p:cNvPicPr>
          <p:nvPr/>
        </p:nvPicPr>
        <p:blipFill>
          <a:blip r:embed="rId6"/>
          <a:stretch>
            <a:fillRect/>
          </a:stretch>
        </p:blipFill>
        <p:spPr>
          <a:xfrm>
            <a:off x="6229590" y="4342362"/>
            <a:ext cx="2779977" cy="1422408"/>
          </a:xfrm>
          <a:prstGeom prst="rect">
            <a:avLst/>
          </a:prstGeom>
        </p:spPr>
      </p:pic>
      <p:pic>
        <p:nvPicPr>
          <p:cNvPr id="13" name="Picture 12">
            <a:extLst>
              <a:ext uri="{FF2B5EF4-FFF2-40B4-BE49-F238E27FC236}">
                <a16:creationId xmlns:a16="http://schemas.microsoft.com/office/drawing/2014/main" id="{35F920E2-92D3-AEFF-4967-75D3DB3959B4}"/>
              </a:ext>
            </a:extLst>
          </p:cNvPr>
          <p:cNvPicPr>
            <a:picLocks noChangeAspect="1"/>
          </p:cNvPicPr>
          <p:nvPr/>
        </p:nvPicPr>
        <p:blipFill>
          <a:blip r:embed="rId7"/>
          <a:stretch>
            <a:fillRect/>
          </a:stretch>
        </p:blipFill>
        <p:spPr>
          <a:xfrm>
            <a:off x="9225426" y="4376687"/>
            <a:ext cx="2593260" cy="1407662"/>
          </a:xfrm>
          <a:prstGeom prst="rect">
            <a:avLst/>
          </a:prstGeom>
        </p:spPr>
      </p:pic>
    </p:spTree>
    <p:extLst>
      <p:ext uri="{BB962C8B-B14F-4D97-AF65-F5344CB8AC3E}">
        <p14:creationId xmlns:p14="http://schemas.microsoft.com/office/powerpoint/2010/main" val="8780463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D10BC2-D466-1767-7EF6-C150BA89ACB8}"/>
              </a:ext>
            </a:extLst>
          </p:cNvPr>
          <p:cNvSpPr>
            <a:spLocks noGrp="1"/>
          </p:cNvSpPr>
          <p:nvPr>
            <p:ph type="title"/>
          </p:nvPr>
        </p:nvSpPr>
        <p:spPr/>
        <p:txBody>
          <a:bodyPr/>
          <a:lstStyle/>
          <a:p>
            <a:r>
              <a:rPr lang="en-US" dirty="0"/>
              <a:t>Model 3: Piecewise q</a:t>
            </a:r>
          </a:p>
        </p:txBody>
      </p:sp>
      <p:pic>
        <p:nvPicPr>
          <p:cNvPr id="5" name="Content Placeholder 4">
            <a:extLst>
              <a:ext uri="{FF2B5EF4-FFF2-40B4-BE49-F238E27FC236}">
                <a16:creationId xmlns:a16="http://schemas.microsoft.com/office/drawing/2014/main" id="{12BD3581-E81E-DCD5-006D-2FA0FB95DD84}"/>
              </a:ext>
            </a:extLst>
          </p:cNvPr>
          <p:cNvPicPr>
            <a:picLocks noGrp="1" noChangeAspect="1"/>
          </p:cNvPicPr>
          <p:nvPr>
            <p:ph idx="1"/>
          </p:nvPr>
        </p:nvPicPr>
        <p:blipFill>
          <a:blip r:embed="rId3"/>
          <a:srcRect t="2231"/>
          <a:stretch>
            <a:fillRect/>
          </a:stretch>
        </p:blipFill>
        <p:spPr>
          <a:xfrm>
            <a:off x="368334" y="2347903"/>
            <a:ext cx="5866213" cy="3551968"/>
          </a:xfrm>
          <a:prstGeom prst="rect">
            <a:avLst/>
          </a:prstGeom>
        </p:spPr>
      </p:pic>
      <p:pic>
        <p:nvPicPr>
          <p:cNvPr id="9" name="Picture 8">
            <a:extLst>
              <a:ext uri="{FF2B5EF4-FFF2-40B4-BE49-F238E27FC236}">
                <a16:creationId xmlns:a16="http://schemas.microsoft.com/office/drawing/2014/main" id="{28E40FBA-8126-3797-5DCE-B7C554587A50}"/>
              </a:ext>
            </a:extLst>
          </p:cNvPr>
          <p:cNvPicPr>
            <a:picLocks noChangeAspect="1"/>
          </p:cNvPicPr>
          <p:nvPr/>
        </p:nvPicPr>
        <p:blipFill>
          <a:blip r:embed="rId4"/>
          <a:stretch>
            <a:fillRect/>
          </a:stretch>
        </p:blipFill>
        <p:spPr>
          <a:xfrm>
            <a:off x="6261183" y="2454415"/>
            <a:ext cx="5701030" cy="3338945"/>
          </a:xfrm>
          <a:prstGeom prst="rect">
            <a:avLst/>
          </a:prstGeom>
        </p:spPr>
      </p:pic>
    </p:spTree>
    <p:extLst>
      <p:ext uri="{BB962C8B-B14F-4D97-AF65-F5344CB8AC3E}">
        <p14:creationId xmlns:p14="http://schemas.microsoft.com/office/powerpoint/2010/main" val="32391302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D32B4A-A30A-651C-D1CA-D5275C25EA77}"/>
              </a:ext>
            </a:extLst>
          </p:cNvPr>
          <p:cNvSpPr>
            <a:spLocks noGrp="1"/>
          </p:cNvSpPr>
          <p:nvPr>
            <p:ph type="title"/>
          </p:nvPr>
        </p:nvSpPr>
        <p:spPr/>
        <p:txBody>
          <a:bodyPr/>
          <a:lstStyle/>
          <a:p>
            <a:r>
              <a:rPr lang="en-US" dirty="0"/>
              <a:t>Model 4: Stan Model with Random Walk</a:t>
            </a:r>
          </a:p>
        </p:txBody>
      </p:sp>
      <p:pic>
        <p:nvPicPr>
          <p:cNvPr id="5" name="Content Placeholder 4">
            <a:extLst>
              <a:ext uri="{FF2B5EF4-FFF2-40B4-BE49-F238E27FC236}">
                <a16:creationId xmlns:a16="http://schemas.microsoft.com/office/drawing/2014/main" id="{D2F33B8C-BFF0-2E7A-1360-8AB05D39FBF0}"/>
              </a:ext>
            </a:extLst>
          </p:cNvPr>
          <p:cNvPicPr>
            <a:picLocks noGrp="1" noChangeAspect="1"/>
          </p:cNvPicPr>
          <p:nvPr>
            <p:ph idx="1"/>
          </p:nvPr>
        </p:nvPicPr>
        <p:blipFill>
          <a:blip r:embed="rId3"/>
          <a:stretch>
            <a:fillRect/>
          </a:stretch>
        </p:blipFill>
        <p:spPr>
          <a:xfrm>
            <a:off x="644318" y="1690688"/>
            <a:ext cx="3040992" cy="2175669"/>
          </a:xfrm>
          <a:prstGeom prst="rect">
            <a:avLst/>
          </a:prstGeom>
        </p:spPr>
      </p:pic>
      <p:pic>
        <p:nvPicPr>
          <p:cNvPr id="7" name="Picture 6">
            <a:extLst>
              <a:ext uri="{FF2B5EF4-FFF2-40B4-BE49-F238E27FC236}">
                <a16:creationId xmlns:a16="http://schemas.microsoft.com/office/drawing/2014/main" id="{B6B02A15-5C43-34FF-FA7E-4523696A66C4}"/>
              </a:ext>
            </a:extLst>
          </p:cNvPr>
          <p:cNvPicPr>
            <a:picLocks noChangeAspect="1"/>
          </p:cNvPicPr>
          <p:nvPr/>
        </p:nvPicPr>
        <p:blipFill>
          <a:blip r:embed="rId4"/>
          <a:stretch>
            <a:fillRect/>
          </a:stretch>
        </p:blipFill>
        <p:spPr>
          <a:xfrm>
            <a:off x="644318" y="4009268"/>
            <a:ext cx="3040992" cy="2190503"/>
          </a:xfrm>
          <a:prstGeom prst="rect">
            <a:avLst/>
          </a:prstGeom>
        </p:spPr>
      </p:pic>
      <p:pic>
        <p:nvPicPr>
          <p:cNvPr id="9" name="Picture 8">
            <a:extLst>
              <a:ext uri="{FF2B5EF4-FFF2-40B4-BE49-F238E27FC236}">
                <a16:creationId xmlns:a16="http://schemas.microsoft.com/office/drawing/2014/main" id="{50619F58-44FB-FCF6-24B7-7049EEAA7B2C}"/>
              </a:ext>
            </a:extLst>
          </p:cNvPr>
          <p:cNvPicPr>
            <a:picLocks noChangeAspect="1"/>
          </p:cNvPicPr>
          <p:nvPr/>
        </p:nvPicPr>
        <p:blipFill>
          <a:blip r:embed="rId5"/>
          <a:stretch>
            <a:fillRect/>
          </a:stretch>
        </p:blipFill>
        <p:spPr>
          <a:xfrm>
            <a:off x="3685310" y="1704390"/>
            <a:ext cx="3040992" cy="2208046"/>
          </a:xfrm>
          <a:prstGeom prst="rect">
            <a:avLst/>
          </a:prstGeom>
        </p:spPr>
      </p:pic>
      <p:pic>
        <p:nvPicPr>
          <p:cNvPr id="11" name="Picture 10">
            <a:extLst>
              <a:ext uri="{FF2B5EF4-FFF2-40B4-BE49-F238E27FC236}">
                <a16:creationId xmlns:a16="http://schemas.microsoft.com/office/drawing/2014/main" id="{495989B8-49BD-7DDD-E9B1-7E01A231934D}"/>
              </a:ext>
            </a:extLst>
          </p:cNvPr>
          <p:cNvPicPr>
            <a:picLocks noChangeAspect="1"/>
          </p:cNvPicPr>
          <p:nvPr/>
        </p:nvPicPr>
        <p:blipFill>
          <a:blip r:embed="rId6"/>
          <a:stretch>
            <a:fillRect/>
          </a:stretch>
        </p:blipFill>
        <p:spPr>
          <a:xfrm>
            <a:off x="3881830" y="4009268"/>
            <a:ext cx="3040991" cy="2207090"/>
          </a:xfrm>
          <a:prstGeom prst="rect">
            <a:avLst/>
          </a:prstGeom>
        </p:spPr>
      </p:pic>
      <p:pic>
        <p:nvPicPr>
          <p:cNvPr id="13" name="Picture 12">
            <a:extLst>
              <a:ext uri="{FF2B5EF4-FFF2-40B4-BE49-F238E27FC236}">
                <a16:creationId xmlns:a16="http://schemas.microsoft.com/office/drawing/2014/main" id="{176AE28A-DC6C-F4CB-6EC5-107287EA4898}"/>
              </a:ext>
            </a:extLst>
          </p:cNvPr>
          <p:cNvPicPr>
            <a:picLocks noChangeAspect="1"/>
          </p:cNvPicPr>
          <p:nvPr/>
        </p:nvPicPr>
        <p:blipFill>
          <a:blip r:embed="rId7"/>
          <a:stretch>
            <a:fillRect/>
          </a:stretch>
        </p:blipFill>
        <p:spPr>
          <a:xfrm>
            <a:off x="6072359" y="4458551"/>
            <a:ext cx="653943" cy="645968"/>
          </a:xfrm>
          <a:prstGeom prst="rect">
            <a:avLst/>
          </a:prstGeom>
        </p:spPr>
      </p:pic>
      <p:pic>
        <p:nvPicPr>
          <p:cNvPr id="15" name="Picture 14">
            <a:extLst>
              <a:ext uri="{FF2B5EF4-FFF2-40B4-BE49-F238E27FC236}">
                <a16:creationId xmlns:a16="http://schemas.microsoft.com/office/drawing/2014/main" id="{AB6789A3-D8AD-7CDE-8AFC-ED06055E25B8}"/>
              </a:ext>
            </a:extLst>
          </p:cNvPr>
          <p:cNvPicPr>
            <a:picLocks noChangeAspect="1"/>
          </p:cNvPicPr>
          <p:nvPr/>
        </p:nvPicPr>
        <p:blipFill>
          <a:blip r:embed="rId8"/>
          <a:srcRect l="3376" t="5485" r="3080"/>
          <a:stretch>
            <a:fillRect/>
          </a:stretch>
        </p:blipFill>
        <p:spPr>
          <a:xfrm>
            <a:off x="7646151" y="2961510"/>
            <a:ext cx="3901531" cy="1809693"/>
          </a:xfrm>
          <a:prstGeom prst="rect">
            <a:avLst/>
          </a:prstGeom>
        </p:spPr>
      </p:pic>
    </p:spTree>
    <p:extLst>
      <p:ext uri="{BB962C8B-B14F-4D97-AF65-F5344CB8AC3E}">
        <p14:creationId xmlns:p14="http://schemas.microsoft.com/office/powerpoint/2010/main" val="17066498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ADB799-3BA5-866B-5CCE-9C78312237A9}"/>
              </a:ext>
            </a:extLst>
          </p:cNvPr>
          <p:cNvSpPr>
            <a:spLocks noGrp="1"/>
          </p:cNvSpPr>
          <p:nvPr>
            <p:ph type="title"/>
          </p:nvPr>
        </p:nvSpPr>
        <p:spPr/>
        <p:txBody>
          <a:bodyPr/>
          <a:lstStyle/>
          <a:p>
            <a:r>
              <a:rPr lang="en-US" dirty="0"/>
              <a:t>Model Comparison</a:t>
            </a:r>
          </a:p>
        </p:txBody>
      </p:sp>
      <p:pic>
        <p:nvPicPr>
          <p:cNvPr id="5" name="Content Placeholder 4">
            <a:extLst>
              <a:ext uri="{FF2B5EF4-FFF2-40B4-BE49-F238E27FC236}">
                <a16:creationId xmlns:a16="http://schemas.microsoft.com/office/drawing/2014/main" id="{4A9B5290-9B57-46E7-5BB6-0D891F0CB5F7}"/>
              </a:ext>
            </a:extLst>
          </p:cNvPr>
          <p:cNvPicPr>
            <a:picLocks noGrp="1" noChangeAspect="1"/>
          </p:cNvPicPr>
          <p:nvPr>
            <p:ph idx="1"/>
          </p:nvPr>
        </p:nvPicPr>
        <p:blipFill>
          <a:blip r:embed="rId3"/>
          <a:stretch>
            <a:fillRect/>
          </a:stretch>
        </p:blipFill>
        <p:spPr>
          <a:xfrm>
            <a:off x="493832" y="1582030"/>
            <a:ext cx="6111456" cy="5021682"/>
          </a:xfrm>
          <a:prstGeom prst="rect">
            <a:avLst/>
          </a:prstGeom>
        </p:spPr>
      </p:pic>
      <p:pic>
        <p:nvPicPr>
          <p:cNvPr id="7" name="Picture 6">
            <a:extLst>
              <a:ext uri="{FF2B5EF4-FFF2-40B4-BE49-F238E27FC236}">
                <a16:creationId xmlns:a16="http://schemas.microsoft.com/office/drawing/2014/main" id="{8D3612B0-FD16-685D-1B90-B8C4F158843C}"/>
              </a:ext>
            </a:extLst>
          </p:cNvPr>
          <p:cNvPicPr>
            <a:picLocks noChangeAspect="1"/>
          </p:cNvPicPr>
          <p:nvPr/>
        </p:nvPicPr>
        <p:blipFill>
          <a:blip r:embed="rId4"/>
          <a:stretch>
            <a:fillRect/>
          </a:stretch>
        </p:blipFill>
        <p:spPr>
          <a:xfrm>
            <a:off x="7465836" y="3573559"/>
            <a:ext cx="3562382" cy="2919316"/>
          </a:xfrm>
          <a:prstGeom prst="rect">
            <a:avLst/>
          </a:prstGeom>
        </p:spPr>
      </p:pic>
      <p:pic>
        <p:nvPicPr>
          <p:cNvPr id="9" name="Picture 8">
            <a:extLst>
              <a:ext uri="{FF2B5EF4-FFF2-40B4-BE49-F238E27FC236}">
                <a16:creationId xmlns:a16="http://schemas.microsoft.com/office/drawing/2014/main" id="{20B91ACD-A854-04CC-54F7-E8F135869E04}"/>
              </a:ext>
            </a:extLst>
          </p:cNvPr>
          <p:cNvPicPr>
            <a:picLocks noChangeAspect="1"/>
          </p:cNvPicPr>
          <p:nvPr/>
        </p:nvPicPr>
        <p:blipFill>
          <a:blip r:embed="rId5"/>
          <a:stretch>
            <a:fillRect/>
          </a:stretch>
        </p:blipFill>
        <p:spPr>
          <a:xfrm>
            <a:off x="7465836" y="365125"/>
            <a:ext cx="3562382" cy="2935525"/>
          </a:xfrm>
          <a:prstGeom prst="rect">
            <a:avLst/>
          </a:prstGeom>
        </p:spPr>
      </p:pic>
    </p:spTree>
    <p:extLst>
      <p:ext uri="{BB962C8B-B14F-4D97-AF65-F5344CB8AC3E}">
        <p14:creationId xmlns:p14="http://schemas.microsoft.com/office/powerpoint/2010/main" val="417586336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141</TotalTime>
  <Words>1583</Words>
  <Application>Microsoft Macintosh PowerPoint</Application>
  <PresentationFormat>Widescreen</PresentationFormat>
  <Paragraphs>87</Paragraphs>
  <Slides>10</Slides>
  <Notes>9</Notes>
  <HiddenSlides>0</HiddenSlides>
  <MMClips>1</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Aptos</vt:lpstr>
      <vt:lpstr>Aptos Display</vt:lpstr>
      <vt:lpstr>Arial</vt:lpstr>
      <vt:lpstr>Times New Roman</vt:lpstr>
      <vt:lpstr>Office Theme</vt:lpstr>
      <vt:lpstr>Surplus Production Models for Adaptive Fisher Behavior</vt:lpstr>
      <vt:lpstr>Surplus Production Model</vt:lpstr>
      <vt:lpstr>Research Questions</vt:lpstr>
      <vt:lpstr>POSEIDON – Fisheries Agent-Based Model</vt:lpstr>
      <vt:lpstr>Simulated Data Trends</vt:lpstr>
      <vt:lpstr>Model 1: Standard Surplus Production</vt:lpstr>
      <vt:lpstr>Model 2: Surplus Production with Informative Priors</vt:lpstr>
      <vt:lpstr>Model 3: Piecewise q</vt:lpstr>
      <vt:lpstr>Model 4: Stan Model with Random Walk</vt:lpstr>
      <vt:lpstr>Model Comparison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Julia Reigrut</dc:creator>
  <cp:lastModifiedBy>Julia Reigrut</cp:lastModifiedBy>
  <cp:revision>1</cp:revision>
  <dcterms:created xsi:type="dcterms:W3CDTF">2026-04-21T15:47:39Z</dcterms:created>
  <dcterms:modified xsi:type="dcterms:W3CDTF">2026-04-21T18:09:17Z</dcterms:modified>
</cp:coreProperties>
</file>